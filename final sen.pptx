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256" r:id="rId2"/>
    <p:sldId id="257" r:id="rId3"/>
    <p:sldId id="258" r:id="rId4"/>
    <p:sldId id="259" r:id="rId5"/>
    <p:sldId id="303" r:id="rId6"/>
    <p:sldId id="260" r:id="rId7"/>
    <p:sldId id="287" r:id="rId8"/>
    <p:sldId id="286" r:id="rId9"/>
    <p:sldId id="281" r:id="rId10"/>
    <p:sldId id="304" r:id="rId11"/>
    <p:sldId id="305" r:id="rId12"/>
    <p:sldId id="282" r:id="rId13"/>
    <p:sldId id="306" r:id="rId14"/>
    <p:sldId id="307" r:id="rId15"/>
    <p:sldId id="29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660"/>
  </p:normalViewPr>
  <p:slideViewPr>
    <p:cSldViewPr snapToGrid="0">
      <p:cViewPr varScale="1">
        <p:scale>
          <a:sx n="84" d="100"/>
          <a:sy n="84" d="100"/>
        </p:scale>
        <p:origin x="88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2E0888-55CD-4AE7-BF95-FC1127927042}"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8BA8C-5DE9-48D7-A4A2-6A556D83CFE9}" type="slidenum">
              <a:rPr lang="en-US" smtClean="0"/>
              <a:t>‹#›</a:t>
            </a:fld>
            <a:endParaRPr lang="en-US"/>
          </a:p>
        </p:txBody>
      </p:sp>
    </p:spTree>
    <p:extLst>
      <p:ext uri="{BB962C8B-B14F-4D97-AF65-F5344CB8AC3E}">
        <p14:creationId xmlns:p14="http://schemas.microsoft.com/office/powerpoint/2010/main" val="263196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9EC892-9AD7-4F87-B73D-BC5311D03528}"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smtClean="0"/>
              <a:t>1</a:t>
            </a:r>
          </a:p>
          <a:p>
            <a:r>
              <a:rPr lang="en-US" smtClean="0"/>
              <a:t>1</a:t>
            </a:r>
            <a:endParaRPr lang="en-US" dirty="0"/>
          </a:p>
        </p:txBody>
      </p:sp>
    </p:spTree>
    <p:extLst>
      <p:ext uri="{BB962C8B-B14F-4D97-AF65-F5344CB8AC3E}">
        <p14:creationId xmlns:p14="http://schemas.microsoft.com/office/powerpoint/2010/main" val="2871303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93CFF8-0BD7-4342-A5A7-6A96FFB7F954}"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1858672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C47657-C36E-479E-96AE-A1F0B48A8952}"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372692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FB189F-F660-45A5-9247-B8A5D5B6B469}"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324233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B00A00-75CD-4864-8F65-A9A7166F84F3}" type="datetime1">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2585654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347A17-ED99-4576-8AE4-C906CA7C9D0E}" type="datetime1">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491731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558558-E7F5-4BED-8B34-3E98C2C3ED36}" type="datetime1">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1502254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30433D6-4BEC-42D6-9AD2-7C8EE2896516}"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2556058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7EEF813-2B2E-4B0B-BF64-1CCCF0D9B01A}"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1496432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CF6F7F-EA50-4883-ABC4-7CAB5C56855C}"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1698794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38DA7-B9DB-4A54-900A-76E9C36E3E2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96C7E-A916-41EB-B46D-FD73DBAC0E04}" type="slidenum">
              <a:rPr lang="en-US" smtClean="0"/>
              <a:t>‹#›</a:t>
            </a:fld>
            <a:endParaRPr lang="en-US"/>
          </a:p>
        </p:txBody>
      </p:sp>
    </p:spTree>
    <p:extLst>
      <p:ext uri="{BB962C8B-B14F-4D97-AF65-F5344CB8AC3E}">
        <p14:creationId xmlns:p14="http://schemas.microsoft.com/office/powerpoint/2010/main" val="1683355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0117F4-A2F4-4CB6-A05D-8EBFF496FB3B}" type="datetime1">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896C7E-A916-41EB-B46D-FD73DBAC0E04}" type="slidenum">
              <a:rPr lang="en-US" smtClean="0"/>
              <a:t>‹#›</a:t>
            </a:fld>
            <a:endParaRPr lang="en-US"/>
          </a:p>
        </p:txBody>
      </p:sp>
    </p:spTree>
    <p:extLst>
      <p:ext uri="{BB962C8B-B14F-4D97-AF65-F5344CB8AC3E}">
        <p14:creationId xmlns:p14="http://schemas.microsoft.com/office/powerpoint/2010/main" val="208841276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3054" y="342159"/>
            <a:ext cx="9144000" cy="2245360"/>
          </a:xfrm>
        </p:spPr>
        <p:txBody>
          <a:bodyPr>
            <a:normAutofit/>
          </a:bodyPr>
          <a:lstStyle/>
          <a:p>
            <a:r>
              <a:rPr lang="en-US" sz="3200" b="1" dirty="0" smtClean="0">
                <a:latin typeface="Times New Roman" panose="02020603050405020304" pitchFamily="18" charset="0"/>
              </a:rPr>
              <a:t/>
            </a:r>
            <a:br>
              <a:rPr lang="en-US" sz="3200" b="1" dirty="0" smtClean="0">
                <a:latin typeface="Times New Roman" panose="02020603050405020304" pitchFamily="18" charset="0"/>
              </a:rPr>
            </a:br>
            <a:r>
              <a:rPr lang="en-US" sz="3200" b="1" dirty="0" smtClean="0">
                <a:latin typeface="Times New Roman" panose="02020603050405020304" pitchFamily="18" charset="0"/>
              </a:rPr>
              <a:t>Design of </a:t>
            </a:r>
            <a:r>
              <a:rPr lang="en-US" sz="3200" b="1" dirty="0">
                <a:latin typeface="Times New Roman" panose="02020603050405020304" pitchFamily="18" charset="0"/>
              </a:rPr>
              <a:t>Wireless Black Box for Cars </a:t>
            </a:r>
          </a:p>
        </p:txBody>
      </p:sp>
      <p:sp>
        <p:nvSpPr>
          <p:cNvPr id="3" name="Subtitle 2"/>
          <p:cNvSpPr>
            <a:spLocks noGrp="1"/>
          </p:cNvSpPr>
          <p:nvPr>
            <p:ph type="subTitle" idx="1"/>
          </p:nvPr>
        </p:nvSpPr>
        <p:spPr>
          <a:xfrm>
            <a:off x="1435894" y="3450337"/>
            <a:ext cx="9418320" cy="3078479"/>
          </a:xfrm>
        </p:spPr>
        <p:txBody>
          <a:bodyPr>
            <a:noAutofit/>
          </a:bodyPr>
          <a:lstStyle/>
          <a:p>
            <a:pPr defTabSz="457200" rtl="1">
              <a:defRPr/>
            </a:pPr>
            <a:r>
              <a:rPr lang="en-US" altLang="en-US" b="1" dirty="0">
                <a:latin typeface="Times New Roman" panose="02020603050405020304" pitchFamily="18" charset="0"/>
                <a:cs typeface="+mj-cs"/>
              </a:rPr>
              <a:t>Prepared </a:t>
            </a:r>
            <a:r>
              <a:rPr lang="en-US" altLang="en-US" b="1" dirty="0" smtClean="0">
                <a:latin typeface="Times New Roman" panose="02020603050405020304" pitchFamily="18" charset="0"/>
                <a:cs typeface="+mj-cs"/>
              </a:rPr>
              <a:t>By</a:t>
            </a:r>
            <a:r>
              <a:rPr lang="en-US" b="1" dirty="0" smtClean="0">
                <a:solidFill>
                  <a:schemeClr val="tx1"/>
                </a:solidFill>
                <a:latin typeface="Simplified Arabic" pitchFamily="18" charset="-78"/>
                <a:cs typeface="+mj-cs"/>
              </a:rPr>
              <a:t>:</a:t>
            </a:r>
            <a:endParaRPr lang="ar-SY" b="1" dirty="0" smtClean="0">
              <a:solidFill>
                <a:schemeClr val="tx1"/>
              </a:solidFill>
              <a:latin typeface="Simplified Arabic" pitchFamily="18" charset="-78"/>
              <a:cs typeface="+mj-cs"/>
            </a:endParaRPr>
          </a:p>
          <a:p>
            <a:pPr algn="ctr" defTabSz="457200" rtl="1">
              <a:defRPr/>
            </a:pPr>
            <a:r>
              <a:rPr lang="en-US" sz="1600" b="1" dirty="0" err="1" smtClean="0">
                <a:latin typeface="Simplified Arabic" pitchFamily="18" charset="-78"/>
                <a:cs typeface="+mj-cs"/>
              </a:rPr>
              <a:t>MHD.Lutfe</a:t>
            </a:r>
            <a:r>
              <a:rPr lang="en-US" sz="1600" b="1" dirty="0" smtClean="0">
                <a:latin typeface="Simplified Arabic" pitchFamily="18" charset="-78"/>
                <a:cs typeface="+mj-cs"/>
              </a:rPr>
              <a:t> </a:t>
            </a:r>
            <a:r>
              <a:rPr lang="en-US" sz="1600" b="1" dirty="0" err="1" smtClean="0">
                <a:latin typeface="Simplified Arabic" pitchFamily="18" charset="-78"/>
                <a:cs typeface="+mj-cs"/>
              </a:rPr>
              <a:t>kassar</a:t>
            </a:r>
            <a:endParaRPr lang="ar-SY" sz="1600" b="1" dirty="0" smtClean="0">
              <a:solidFill>
                <a:schemeClr val="tx1"/>
              </a:solidFill>
              <a:latin typeface="Simplified Arabic" pitchFamily="18" charset="-78"/>
              <a:cs typeface="+mj-cs"/>
            </a:endParaRPr>
          </a:p>
          <a:p>
            <a:pPr defTabSz="457200" rtl="1">
              <a:defRPr/>
            </a:pPr>
            <a:r>
              <a:rPr lang="en-US" altLang="en-US" b="1" dirty="0" smtClean="0">
                <a:latin typeface="Times New Roman" panose="02020603050405020304" pitchFamily="18" charset="0"/>
                <a:cs typeface="+mj-cs"/>
              </a:rPr>
              <a:t>Supervised by:</a:t>
            </a:r>
          </a:p>
          <a:p>
            <a:pPr defTabSz="457200">
              <a:defRPr/>
            </a:pPr>
            <a:r>
              <a:rPr lang="en-US" sz="1600" b="1" dirty="0" err="1">
                <a:latin typeface="Century Gothic" panose="020B0502020202020204"/>
                <a:cs typeface="+mj-cs"/>
              </a:rPr>
              <a:t>D.Hassan</a:t>
            </a:r>
            <a:r>
              <a:rPr lang="en-US" sz="1600" b="1" dirty="0">
                <a:latin typeface="Century Gothic" panose="020B0502020202020204"/>
                <a:cs typeface="+mj-cs"/>
              </a:rPr>
              <a:t> </a:t>
            </a:r>
            <a:r>
              <a:rPr lang="en-US" sz="1600" b="1" dirty="0" err="1">
                <a:latin typeface="Century Gothic" panose="020B0502020202020204"/>
                <a:cs typeface="+mj-cs"/>
              </a:rPr>
              <a:t>ahmad</a:t>
            </a:r>
            <a:endParaRPr lang="en-US" sz="1600" b="1" dirty="0">
              <a:latin typeface="Century Gothic" panose="020B0502020202020204"/>
              <a:cs typeface="+mj-cs"/>
            </a:endParaRPr>
          </a:p>
          <a:p>
            <a:pPr defTabSz="457200">
              <a:defRPr/>
            </a:pPr>
            <a:r>
              <a:rPr lang="en-US" sz="1600" b="1" dirty="0" err="1">
                <a:latin typeface="Century Gothic" panose="020B0502020202020204"/>
                <a:cs typeface="+mj-cs"/>
              </a:rPr>
              <a:t>ENG.Mohamed</a:t>
            </a:r>
            <a:r>
              <a:rPr lang="en-US" sz="1600" b="1" dirty="0">
                <a:latin typeface="Century Gothic" panose="020B0502020202020204"/>
                <a:cs typeface="+mj-cs"/>
              </a:rPr>
              <a:t> </a:t>
            </a:r>
            <a:r>
              <a:rPr lang="en-US" sz="1600" b="1" dirty="0" err="1">
                <a:latin typeface="Century Gothic" panose="020B0502020202020204"/>
                <a:cs typeface="+mj-cs"/>
              </a:rPr>
              <a:t>othman</a:t>
            </a:r>
            <a:endParaRPr lang="ar-SY" sz="1600" b="1" dirty="0">
              <a:latin typeface="Century Gothic" panose="020B0502020202020204"/>
              <a:cs typeface="+mj-cs"/>
            </a:endParaRPr>
          </a:p>
          <a:p>
            <a:pPr algn="ctr" defTabSz="457200" rtl="1">
              <a:defRPr/>
            </a:pPr>
            <a:endParaRPr lang="ar-SY" sz="1800" dirty="0" smtClean="0">
              <a:solidFill>
                <a:schemeClr val="tx1"/>
              </a:solidFill>
              <a:cs typeface="+mj-cs"/>
            </a:endParaRPr>
          </a:p>
          <a:p>
            <a:pPr defTabSz="457200">
              <a:defRPr/>
            </a:pPr>
            <a:r>
              <a:rPr lang="en-US" sz="1400" b="1" dirty="0" smtClean="0">
                <a:solidFill>
                  <a:schemeClr val="tx1"/>
                </a:solidFill>
                <a:latin typeface="Almarai" pitchFamily="2" charset="-78"/>
                <a:cs typeface="+mj-cs"/>
              </a:rPr>
              <a:t>2026/11/3</a:t>
            </a:r>
            <a:endParaRPr lang="en-US" sz="1400" b="1" dirty="0" smtClean="0">
              <a:solidFill>
                <a:schemeClr val="tx1"/>
              </a:solidFill>
              <a:latin typeface="Almarai" pitchFamily="2" charset="-78"/>
              <a:cs typeface="+mj-cs"/>
            </a:endParaRPr>
          </a:p>
          <a:p>
            <a:pPr defTabSz="457200">
              <a:defRPr/>
            </a:pPr>
            <a:endParaRPr lang="en-US" sz="1400" b="1" dirty="0" smtClean="0">
              <a:solidFill>
                <a:schemeClr val="tx1"/>
              </a:solidFill>
              <a:latin typeface="Almarai" pitchFamily="2" charset="-78"/>
              <a:cs typeface="+mj-cs"/>
            </a:endParaRPr>
          </a:p>
          <a:p>
            <a:pPr algn="ctr" rtl="1"/>
            <a:endParaRPr lang="en-US" sz="1600" dirty="0" smtClean="0">
              <a:solidFill>
                <a:schemeClr val="tx1"/>
              </a:solidFill>
              <a:cs typeface="+mj-cs"/>
            </a:endParaRPr>
          </a:p>
        </p:txBody>
      </p:sp>
      <p:sp>
        <p:nvSpPr>
          <p:cNvPr id="9" name="Slide Number Placeholder 8"/>
          <p:cNvSpPr>
            <a:spLocks noGrp="1"/>
          </p:cNvSpPr>
          <p:nvPr>
            <p:ph type="sldNum" sz="quarter" idx="12"/>
          </p:nvPr>
        </p:nvSpPr>
        <p:spPr/>
        <p:txBody>
          <a:bodyPr/>
          <a:lstStyle/>
          <a:p>
            <a:endParaRPr lang="en-US" dirty="0" smtClean="0">
              <a:cs typeface="+mj-cs"/>
            </a:endParaRPr>
          </a:p>
          <a:p>
            <a:r>
              <a:rPr lang="en-US" dirty="0" smtClean="0">
                <a:cs typeface="+mj-cs"/>
              </a:rPr>
              <a:t>1</a:t>
            </a:r>
            <a:endParaRPr lang="en-US" dirty="0">
              <a:cs typeface="+mj-cs"/>
            </a:endParaRPr>
          </a:p>
        </p:txBody>
      </p:sp>
      <p:sp>
        <p:nvSpPr>
          <p:cNvPr id="4" name="Rectangle 3"/>
          <p:cNvSpPr/>
          <p:nvPr/>
        </p:nvSpPr>
        <p:spPr>
          <a:xfrm>
            <a:off x="3377470" y="192024"/>
            <a:ext cx="8518873" cy="1015663"/>
          </a:xfrm>
          <a:prstGeom prst="rect">
            <a:avLst/>
          </a:prstGeom>
        </p:spPr>
        <p:txBody>
          <a:bodyPr wrap="square">
            <a:spAutoFit/>
          </a:bodyPr>
          <a:lstStyle/>
          <a:p>
            <a:pPr algn="r" rtl="1"/>
            <a:r>
              <a:rPr lang="en-US" altLang="en-US" sz="2000" dirty="0">
                <a:latin typeface="Times New Roman" panose="02020603050405020304" pitchFamily="18" charset="0"/>
                <a:cs typeface="+mj-cs"/>
              </a:rPr>
              <a:t>Syrian Private University</a:t>
            </a:r>
            <a:br>
              <a:rPr lang="en-US" altLang="en-US" sz="2000" dirty="0">
                <a:latin typeface="Times New Roman" panose="02020603050405020304" pitchFamily="18" charset="0"/>
                <a:cs typeface="+mj-cs"/>
              </a:rPr>
            </a:br>
            <a:r>
              <a:rPr lang="en-US" altLang="en-US" sz="2000" dirty="0" smtClean="0">
                <a:latin typeface="Times New Roman" panose="02020603050405020304" pitchFamily="18" charset="0"/>
                <a:cs typeface="+mj-cs"/>
              </a:rPr>
              <a:t>Faculty </a:t>
            </a:r>
            <a:r>
              <a:rPr lang="en-US" altLang="en-US" sz="2000" dirty="0">
                <a:latin typeface="Times New Roman" panose="02020603050405020304" pitchFamily="18" charset="0"/>
                <a:cs typeface="+mj-cs"/>
              </a:rPr>
              <a:t>of Artificial Intelligence Engineering </a:t>
            </a:r>
            <a:br>
              <a:rPr lang="en-US" altLang="en-US" sz="2000" dirty="0">
                <a:latin typeface="Times New Roman" panose="02020603050405020304" pitchFamily="18" charset="0"/>
                <a:cs typeface="+mj-cs"/>
              </a:rPr>
            </a:br>
            <a:r>
              <a:rPr lang="en-US" altLang="en-US" sz="2000" dirty="0" smtClean="0">
                <a:latin typeface="Times New Roman" panose="02020603050405020304" pitchFamily="18" charset="0"/>
                <a:cs typeface="+mj-cs"/>
              </a:rPr>
              <a:t>intelligent </a:t>
            </a:r>
            <a:r>
              <a:rPr lang="en-US" altLang="en-US" sz="2000" dirty="0">
                <a:latin typeface="Times New Roman" panose="02020603050405020304" pitchFamily="18" charset="0"/>
                <a:cs typeface="+mj-cs"/>
              </a:rPr>
              <a:t>t</a:t>
            </a:r>
            <a:r>
              <a:rPr lang="en-US" altLang="en-US" sz="2000" dirty="0" smtClean="0">
                <a:latin typeface="Times New Roman" panose="02020603050405020304" pitchFamily="18" charset="0"/>
                <a:cs typeface="+mj-cs"/>
              </a:rPr>
              <a:t>elecommunication Engineering</a:t>
            </a:r>
            <a:endParaRPr lang="ar-SY" sz="2000" dirty="0">
              <a:uFill>
                <a:solidFill>
                  <a:srgbClr val="000000"/>
                </a:solidFill>
              </a:uFill>
              <a:latin typeface="Calibri" panose="020F0502020204030204" pitchFamily="34" charset="0"/>
              <a:ea typeface="Calibri" panose="020F0502020204030204" pitchFamily="34" charset="0"/>
              <a:cs typeface="+mj-cs"/>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56" y="150179"/>
            <a:ext cx="2871788" cy="1971675"/>
          </a:xfrm>
          <a:prstGeom prst="rect">
            <a:avLst/>
          </a:prstGeom>
        </p:spPr>
      </p:pic>
    </p:spTree>
    <p:extLst>
      <p:ext uri="{BB962C8B-B14F-4D97-AF65-F5344CB8AC3E}">
        <p14:creationId xmlns:p14="http://schemas.microsoft.com/office/powerpoint/2010/main" val="39611834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8735"/>
            <a:ext cx="10515600" cy="1325563"/>
          </a:xfrm>
        </p:spPr>
        <p:txBody>
          <a:bodyPr>
            <a:normAutofit/>
          </a:bodyPr>
          <a:lstStyle/>
          <a:p>
            <a:r>
              <a:rPr lang="en-US" b="1" dirty="0"/>
              <a:t>O</a:t>
            </a:r>
            <a:r>
              <a:rPr lang="en-US" b="1" dirty="0" smtClean="0"/>
              <a:t>utline	</a:t>
            </a:r>
            <a:endParaRPr lang="en-US" b="1" dirty="0"/>
          </a:p>
        </p:txBody>
      </p:sp>
      <p:sp>
        <p:nvSpPr>
          <p:cNvPr id="3" name="Content Placeholder 2"/>
          <p:cNvSpPr>
            <a:spLocks noGrp="1"/>
          </p:cNvSpPr>
          <p:nvPr>
            <p:ph idx="1"/>
          </p:nvPr>
        </p:nvSpPr>
        <p:spPr>
          <a:xfrm>
            <a:off x="838200" y="1258697"/>
            <a:ext cx="10515600" cy="4351338"/>
          </a:xfrm>
        </p:spPr>
        <p:txBody>
          <a:bodyPr>
            <a:normAutofit fontScale="92500" lnSpcReduction="10000"/>
          </a:bodyPr>
          <a:lstStyle/>
          <a:p>
            <a:pPr>
              <a:lnSpc>
                <a:spcPct val="150000"/>
              </a:lnSpc>
            </a:pPr>
            <a:r>
              <a:rPr lang="en-US" sz="3300" dirty="0">
                <a:solidFill>
                  <a:schemeClr val="tx1">
                    <a:lumMod val="95000"/>
                    <a:lumOff val="5000"/>
                  </a:schemeClr>
                </a:solidFill>
                <a:latin typeface="Times New Roman" panose="02020603050405020304" pitchFamily="18" charset="0"/>
                <a:cs typeface="+mj-cs"/>
              </a:rPr>
              <a:t>Project </a:t>
            </a:r>
            <a:r>
              <a:rPr lang="en-US" sz="3300" dirty="0" smtClean="0">
                <a:solidFill>
                  <a:schemeClr val="tx1">
                    <a:lumMod val="95000"/>
                    <a:lumOff val="5000"/>
                  </a:schemeClr>
                </a:solidFill>
                <a:latin typeface="Times New Roman" panose="02020603050405020304" pitchFamily="18" charset="0"/>
                <a:cs typeface="+mj-cs"/>
              </a:rPr>
              <a:t>Objective</a:t>
            </a:r>
          </a:p>
          <a:p>
            <a:pPr>
              <a:lnSpc>
                <a:spcPct val="150000"/>
              </a:lnSpc>
            </a:pPr>
            <a:r>
              <a:rPr lang="en-GB" dirty="0" smtClean="0">
                <a:latin typeface="Times New Roman" panose="02020603050405020304" pitchFamily="18" charset="0"/>
                <a:cs typeface="+mj-cs"/>
              </a:rPr>
              <a:t>Problem Statement &amp; project Importance </a:t>
            </a:r>
          </a:p>
          <a:p>
            <a:pPr>
              <a:lnSpc>
                <a:spcPct val="150000"/>
              </a:lnSpc>
            </a:pPr>
            <a:r>
              <a:rPr lang="en-US" dirty="0" smtClean="0">
                <a:solidFill>
                  <a:schemeClr val="tx1">
                    <a:lumMod val="95000"/>
                    <a:lumOff val="5000"/>
                  </a:schemeClr>
                </a:solidFill>
                <a:latin typeface="Times New Roman" panose="02020603050405020304" pitchFamily="18" charset="0"/>
                <a:cs typeface="+mj-cs"/>
              </a:rPr>
              <a:t>Methodology</a:t>
            </a:r>
            <a:endParaRPr lang="ar-SY" dirty="0" smtClean="0">
              <a:solidFill>
                <a:schemeClr val="tx1">
                  <a:lumMod val="95000"/>
                  <a:lumOff val="5000"/>
                </a:schemeClr>
              </a:solidFill>
              <a:latin typeface="Times New Roman" panose="02020603050405020304" pitchFamily="18" charset="0"/>
              <a:cs typeface="+mj-cs"/>
            </a:endParaRPr>
          </a:p>
          <a:p>
            <a:pPr>
              <a:lnSpc>
                <a:spcPct val="150000"/>
              </a:lnSpc>
            </a:pPr>
            <a:r>
              <a:rPr lang="en-US" dirty="0" smtClean="0">
                <a:solidFill>
                  <a:schemeClr val="tx1">
                    <a:lumMod val="95000"/>
                    <a:lumOff val="5000"/>
                  </a:schemeClr>
                </a:solidFill>
                <a:latin typeface="Times New Roman" panose="02020603050405020304" pitchFamily="18" charset="0"/>
                <a:cs typeface="+mj-cs"/>
              </a:rPr>
              <a:t>Reference studies</a:t>
            </a:r>
          </a:p>
          <a:p>
            <a:pPr>
              <a:lnSpc>
                <a:spcPct val="150000"/>
              </a:lnSpc>
            </a:pPr>
            <a:r>
              <a:rPr lang="ar-SY" dirty="0" smtClean="0">
                <a:solidFill>
                  <a:schemeClr val="tx1">
                    <a:lumMod val="95000"/>
                    <a:lumOff val="5000"/>
                  </a:schemeClr>
                </a:solidFill>
                <a:latin typeface="Tahoma" panose="020B0604030504040204" pitchFamily="34" charset="0"/>
                <a:ea typeface="Tahoma" panose="020B0604030504040204" pitchFamily="34" charset="0"/>
                <a:cs typeface="+mj-cs"/>
              </a:rPr>
              <a:t> </a:t>
            </a:r>
            <a:r>
              <a:rPr lang="en-US" dirty="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rPr>
              <a:t>G</a:t>
            </a:r>
            <a:r>
              <a:rPr lang="en-US" dirty="0" smtClean="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rPr>
              <a:t>eneral theoretical Fundamentals</a:t>
            </a:r>
            <a:endParaRPr lang="ar-SY" sz="2800" dirty="0" smtClean="0">
              <a:solidFill>
                <a:schemeClr val="tx1">
                  <a:lumMod val="95000"/>
                  <a:lumOff val="5000"/>
                </a:schemeClr>
              </a:solidFill>
              <a:latin typeface="Times New Roman" panose="02020603050405020304" pitchFamily="18" charset="0"/>
              <a:cs typeface="+mj-cs"/>
            </a:endParaRPr>
          </a:p>
          <a:p>
            <a:pPr>
              <a:lnSpc>
                <a:spcPct val="150000"/>
              </a:lnSpc>
            </a:pPr>
            <a:r>
              <a:rPr lang="en-US" dirty="0" smtClean="0">
                <a:solidFill>
                  <a:schemeClr val="tx1">
                    <a:lumMod val="95000"/>
                    <a:lumOff val="5000"/>
                  </a:schemeClr>
                </a:solidFill>
                <a:latin typeface="Times New Roman" panose="02020603050405020304" pitchFamily="18" charset="0"/>
                <a:cs typeface="+mj-cs"/>
              </a:rPr>
              <a:t>Reference LIST</a:t>
            </a:r>
            <a:endParaRPr lang="en-US" dirty="0">
              <a:cs typeface="+mj-cs"/>
            </a:endParaRPr>
          </a:p>
        </p:txBody>
      </p:sp>
      <p:sp>
        <p:nvSpPr>
          <p:cNvPr id="5" name="TextBox 4">
            <a:extLst>
              <a:ext uri="{FF2B5EF4-FFF2-40B4-BE49-F238E27FC236}">
                <a16:creationId xmlns:a16="http://schemas.microsoft.com/office/drawing/2014/main" id="{4128FC70-EC87-4505-B103-CC8A34AD5B99}"/>
              </a:ext>
            </a:extLst>
          </p:cNvPr>
          <p:cNvSpPr txBox="1"/>
          <p:nvPr/>
        </p:nvSpPr>
        <p:spPr>
          <a:xfrm>
            <a:off x="1753565" y="5010859"/>
            <a:ext cx="2234520" cy="338554"/>
          </a:xfrm>
          <a:prstGeom prst="rect">
            <a:avLst/>
          </a:prstGeom>
          <a:noFill/>
        </p:spPr>
        <p:txBody>
          <a:bodyPr wrap="square" rtlCol="0">
            <a:spAutoFit/>
          </a:bodyPr>
          <a:lstStyle/>
          <a:p>
            <a:pPr algn="ctr"/>
            <a:endParaRPr lang="en-US" sz="1600" b="1" dirty="0">
              <a:solidFill>
                <a:srgbClr val="A6A6A6"/>
              </a:solidFill>
              <a:latin typeface="Tw Cen MT" panose="020B0602020104020603" pitchFamily="34" charset="0"/>
            </a:endParaRPr>
          </a:p>
        </p:txBody>
      </p:sp>
      <p:sp>
        <p:nvSpPr>
          <p:cNvPr id="7" name="Content Placeholder 2"/>
          <p:cNvSpPr txBox="1">
            <a:spLocks/>
          </p:cNvSpPr>
          <p:nvPr/>
        </p:nvSpPr>
        <p:spPr>
          <a:xfrm>
            <a:off x="4223084" y="1387532"/>
            <a:ext cx="6019940" cy="4482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lnSpc>
                <a:spcPct val="150000"/>
              </a:lnSpc>
            </a:pPr>
            <a:endParaRPr lang="ar-SY" dirty="0">
              <a:solidFill>
                <a:schemeClr val="tx1">
                  <a:lumMod val="95000"/>
                  <a:lumOff val="5000"/>
                </a:schemeClr>
              </a:solidFill>
              <a:latin typeface="Simplified Arabic" pitchFamily="18" charset="-78"/>
              <a:cs typeface="Simplified Arabic" pitchFamily="18" charset="-78"/>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2</a:t>
            </a:fld>
            <a:endParaRPr lang="en-US"/>
          </a:p>
        </p:txBody>
      </p:sp>
    </p:spTree>
    <p:extLst>
      <p:ext uri="{BB962C8B-B14F-4D97-AF65-F5344CB8AC3E}">
        <p14:creationId xmlns:p14="http://schemas.microsoft.com/office/powerpoint/2010/main" val="1046318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218" y="406998"/>
            <a:ext cx="9404723" cy="1400530"/>
          </a:xfrm>
        </p:spPr>
        <p:txBody>
          <a:bodyPr>
            <a:normAutofit fontScale="90000"/>
          </a:bodyPr>
          <a:lstStyle/>
          <a:p>
            <a:pPr algn="ctr" rtl="1"/>
            <a:r>
              <a:rPr lang="en-US" sz="4400" dirty="0">
                <a:latin typeface="Times New Roman" panose="02020603050405020304" pitchFamily="18" charset="0"/>
                <a:cs typeface="Times New Roman" panose="02020603050405020304" pitchFamily="18" charset="0"/>
              </a:rPr>
              <a:t/>
            </a:r>
            <a:br>
              <a:rPr lang="en-US" sz="4400" dirty="0">
                <a:latin typeface="Times New Roman" panose="02020603050405020304" pitchFamily="18" charset="0"/>
                <a:cs typeface="Times New Roman" panose="02020603050405020304" pitchFamily="18" charset="0"/>
              </a:rPr>
            </a:br>
            <a:r>
              <a:rPr lang="en-US" dirty="0">
                <a:solidFill>
                  <a:schemeClr val="tx1">
                    <a:lumMod val="95000"/>
                    <a:lumOff val="5000"/>
                  </a:schemeClr>
                </a:solidFill>
                <a:latin typeface="Times New Roman" panose="02020603050405020304" pitchFamily="18" charset="0"/>
              </a:rPr>
              <a:t>Project Objective</a:t>
            </a:r>
            <a:br>
              <a:rPr lang="en-US" dirty="0">
                <a:solidFill>
                  <a:schemeClr val="tx1">
                    <a:lumMod val="95000"/>
                    <a:lumOff val="5000"/>
                  </a:schemeClr>
                </a:solidFill>
                <a:latin typeface="Times New Roman" panose="02020603050405020304" pitchFamily="18" charset="0"/>
              </a:rPr>
            </a:br>
            <a:endParaRPr lang="en-US" b="1" dirty="0"/>
          </a:p>
        </p:txBody>
      </p:sp>
      <p:sp>
        <p:nvSpPr>
          <p:cNvPr id="3" name="Content Placeholder 2"/>
          <p:cNvSpPr>
            <a:spLocks noGrp="1"/>
          </p:cNvSpPr>
          <p:nvPr>
            <p:ph idx="1"/>
          </p:nvPr>
        </p:nvSpPr>
        <p:spPr>
          <a:xfrm>
            <a:off x="1103308" y="1984198"/>
            <a:ext cx="8946541" cy="4195481"/>
          </a:xfrm>
        </p:spPr>
        <p:txBody>
          <a:bodyPr>
            <a:noAutofit/>
          </a:bodyPr>
          <a:lstStyle/>
          <a:p>
            <a:pPr marL="0" indent="0" algn="ctr" rtl="1">
              <a:buNone/>
            </a:pPr>
            <a:r>
              <a:rPr lang="en-US" sz="3200" b="1" dirty="0" smtClean="0">
                <a:latin typeface="Times New Roman" panose="02020603050405020304" pitchFamily="18" charset="0"/>
              </a:rPr>
              <a:t/>
            </a:r>
            <a:br>
              <a:rPr lang="en-US" sz="3200" b="1" dirty="0" smtClean="0">
                <a:latin typeface="Times New Roman" panose="02020603050405020304" pitchFamily="18" charset="0"/>
              </a:rPr>
            </a:br>
            <a:r>
              <a:rPr lang="en-US" sz="3200" b="1" dirty="0" smtClean="0">
                <a:latin typeface="Times New Roman" panose="02020603050405020304" pitchFamily="18" charset="0"/>
              </a:rPr>
              <a:t>Design of Wireless Black Box for Cars </a:t>
            </a:r>
            <a:endParaRPr lang="ar-SY" sz="3200" dirty="0"/>
          </a:p>
        </p:txBody>
      </p:sp>
      <p:sp>
        <p:nvSpPr>
          <p:cNvPr id="5" name="Slide Number Placeholder 4"/>
          <p:cNvSpPr>
            <a:spLocks noGrp="1"/>
          </p:cNvSpPr>
          <p:nvPr>
            <p:ph type="sldNum" sz="quarter" idx="12"/>
          </p:nvPr>
        </p:nvSpPr>
        <p:spPr/>
        <p:txBody>
          <a:bodyPr/>
          <a:lstStyle/>
          <a:p>
            <a:fld id="{33896C7E-A916-41EB-B46D-FD73DBAC0E04}" type="slidenum">
              <a:rPr lang="en-US" smtClean="0"/>
              <a:t>3</a:t>
            </a:fld>
            <a:endParaRPr lang="en-US"/>
          </a:p>
        </p:txBody>
      </p:sp>
    </p:spTree>
    <p:extLst>
      <p:ext uri="{BB962C8B-B14F-4D97-AF65-F5344CB8AC3E}">
        <p14:creationId xmlns:p14="http://schemas.microsoft.com/office/powerpoint/2010/main" val="16232414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490" y="691506"/>
            <a:ext cx="9601196" cy="714588"/>
          </a:xfrm>
        </p:spPr>
        <p:txBody>
          <a:bodyPr>
            <a:noAutofit/>
          </a:bodyPr>
          <a:lstStyle/>
          <a:p>
            <a:pPr algn="ctr" rtl="1">
              <a:lnSpc>
                <a:spcPct val="100000"/>
              </a:lnSpc>
            </a:pPr>
            <a:r>
              <a:rPr lang="en-GB" dirty="0" smtClean="0">
                <a:latin typeface="Times New Roman" panose="02020603050405020304" pitchFamily="18" charset="0"/>
              </a:rPr>
              <a:t>Problem Statement &amp; project Importance </a:t>
            </a:r>
            <a:br>
              <a:rPr lang="en-GB" dirty="0" smtClean="0">
                <a:latin typeface="Times New Roman" panose="02020603050405020304" pitchFamily="18" charset="0"/>
              </a:rPr>
            </a:br>
            <a:endParaRPr lang="en-US" sz="4400" b="1" dirty="0"/>
          </a:p>
        </p:txBody>
      </p:sp>
      <p:sp>
        <p:nvSpPr>
          <p:cNvPr id="3" name="Content Placeholder 2"/>
          <p:cNvSpPr>
            <a:spLocks noGrp="1"/>
          </p:cNvSpPr>
          <p:nvPr>
            <p:ph idx="1"/>
          </p:nvPr>
        </p:nvSpPr>
        <p:spPr>
          <a:xfrm>
            <a:off x="1364490" y="1462624"/>
            <a:ext cx="9601196" cy="2545902"/>
          </a:xfrm>
        </p:spPr>
        <p:txBody>
          <a:bodyPr>
            <a:noAutofit/>
          </a:bodyPr>
          <a:lstStyle/>
          <a:p>
            <a:pPr algn="r">
              <a:lnSpc>
                <a:spcPct val="100000"/>
              </a:lnSpc>
            </a:pPr>
            <a:endParaRPr lang="ar-SY" altLang="en-US" sz="1800" b="1" dirty="0" smtClean="0">
              <a:latin typeface="Arial" panose="020B0604020202020204" pitchFamily="34" charset="0"/>
              <a:cs typeface="+mj-cs"/>
            </a:endParaRPr>
          </a:p>
          <a:p>
            <a:pPr>
              <a:lnSpc>
                <a:spcPct val="100000"/>
              </a:lnSpc>
              <a:buFont typeface="Wingdings" panose="05000000000000000000" pitchFamily="2" charset="2"/>
              <a:buChar char="q"/>
            </a:pPr>
            <a:r>
              <a:rPr lang="en-GB" sz="2000" dirty="0">
                <a:latin typeface="Times New Roman" panose="02020603050405020304" pitchFamily="18" charset="0"/>
                <a:cs typeface="+mj-cs"/>
              </a:rPr>
              <a:t>Problem </a:t>
            </a:r>
            <a:r>
              <a:rPr lang="en-GB" sz="2000" dirty="0" smtClean="0">
                <a:latin typeface="Times New Roman" panose="02020603050405020304" pitchFamily="18" charset="0"/>
                <a:cs typeface="+mj-cs"/>
              </a:rPr>
              <a:t>Statement:</a:t>
            </a:r>
            <a:endParaRPr lang="en-US" sz="2000" dirty="0">
              <a:latin typeface="Arial" panose="020B0604020202020204" pitchFamily="34" charset="0"/>
              <a:cs typeface="+mj-cs"/>
            </a:endParaRPr>
          </a:p>
          <a:p>
            <a:pPr>
              <a:lnSpc>
                <a:spcPct val="100000"/>
              </a:lnSpc>
            </a:pPr>
            <a:r>
              <a:rPr lang="en-US" altLang="en-US" sz="2000" dirty="0" smtClean="0">
                <a:latin typeface="Times New Roman" panose="02020603050405020304" pitchFamily="18" charset="0"/>
                <a:cs typeface="+mj-cs"/>
              </a:rPr>
              <a:t>Failure to </a:t>
            </a:r>
            <a:r>
              <a:rPr lang="en-US" altLang="en-US" sz="2000" dirty="0">
                <a:latin typeface="Times New Roman" panose="02020603050405020304" pitchFamily="18" charset="0"/>
                <a:cs typeface="+mj-cs"/>
              </a:rPr>
              <a:t>detect dangerous situations that do not end in a </a:t>
            </a:r>
            <a:r>
              <a:rPr lang="en-US" altLang="en-US" sz="2000" dirty="0" smtClean="0">
                <a:latin typeface="Times New Roman" panose="02020603050405020304" pitchFamily="18" charset="0"/>
                <a:cs typeface="+mj-cs"/>
              </a:rPr>
              <a:t>collision</a:t>
            </a:r>
            <a:endParaRPr lang="ar-SY" altLang="en-US" sz="2000" dirty="0" smtClean="0">
              <a:latin typeface="Times New Roman" panose="02020603050405020304" pitchFamily="18" charset="0"/>
              <a:cs typeface="+mj-cs"/>
            </a:endParaRPr>
          </a:p>
          <a:p>
            <a:pPr>
              <a:lnSpc>
                <a:spcPct val="100000"/>
              </a:lnSpc>
            </a:pPr>
            <a:r>
              <a:rPr lang="en-US" sz="2000" dirty="0">
                <a:latin typeface="Times New Roman" panose="02020603050405020304" pitchFamily="18" charset="0"/>
                <a:cs typeface="+mj-cs"/>
              </a:rPr>
              <a:t>Failure to link visual evidence with sensor </a:t>
            </a:r>
            <a:r>
              <a:rPr lang="en-US" sz="2000" dirty="0" smtClean="0">
                <a:latin typeface="Times New Roman" panose="02020603050405020304" pitchFamily="18" charset="0"/>
                <a:cs typeface="+mj-cs"/>
              </a:rPr>
              <a:t>data</a:t>
            </a:r>
          </a:p>
          <a:p>
            <a:pPr eaLnBrk="0" fontAlgn="base" hangingPunct="0">
              <a:spcBef>
                <a:spcPct val="0"/>
              </a:spcBef>
              <a:spcAft>
                <a:spcPct val="0"/>
              </a:spcAft>
            </a:pPr>
            <a:r>
              <a:rPr lang="en-US" sz="2000" dirty="0">
                <a:latin typeface="Times New Roman" panose="02020603050405020304" pitchFamily="18" charset="0"/>
                <a:cs typeface="+mj-cs"/>
              </a:rPr>
              <a:t>Relying on manual review of the </a:t>
            </a:r>
            <a:r>
              <a:rPr lang="en-US" sz="2000" dirty="0" smtClean="0">
                <a:latin typeface="Times New Roman" panose="02020603050405020304" pitchFamily="18" charset="0"/>
                <a:cs typeface="+mj-cs"/>
              </a:rPr>
              <a:t>recording</a:t>
            </a:r>
          </a:p>
          <a:p>
            <a:pPr eaLnBrk="0" fontAlgn="base" hangingPunct="0">
              <a:spcBef>
                <a:spcPct val="0"/>
              </a:spcBef>
              <a:spcAft>
                <a:spcPct val="0"/>
              </a:spcAft>
              <a:buFont typeface="Wingdings" panose="05000000000000000000" pitchFamily="2" charset="2"/>
              <a:buChar char="q"/>
            </a:pPr>
            <a:endParaRPr lang="en-US" altLang="en-US" sz="2000" b="1" dirty="0">
              <a:latin typeface="Times New Roman" panose="02020603050405020304" pitchFamily="18" charset="0"/>
              <a:cs typeface="+mj-cs"/>
            </a:endParaRPr>
          </a:p>
          <a:p>
            <a:pPr eaLnBrk="0" fontAlgn="base" hangingPunct="0">
              <a:spcBef>
                <a:spcPct val="0"/>
              </a:spcBef>
              <a:spcAft>
                <a:spcPct val="0"/>
              </a:spcAft>
              <a:buFont typeface="Wingdings" panose="05000000000000000000" pitchFamily="2" charset="2"/>
              <a:buChar char="q"/>
            </a:pPr>
            <a:r>
              <a:rPr lang="en-US" altLang="en-US" sz="2000" dirty="0" smtClean="0">
                <a:latin typeface="Times New Roman" panose="02020603050405020304" pitchFamily="18" charset="0"/>
                <a:cs typeface="Times New Roman" panose="02020603050405020304" pitchFamily="18" charset="0"/>
              </a:rPr>
              <a:t>Project </a:t>
            </a:r>
            <a:r>
              <a:rPr lang="en-US" altLang="en-US" sz="2000" dirty="0">
                <a:latin typeface="Times New Roman" panose="02020603050405020304" pitchFamily="18" charset="0"/>
                <a:cs typeface="Times New Roman" panose="02020603050405020304" pitchFamily="18" charset="0"/>
              </a:rPr>
              <a:t>Importance:</a:t>
            </a:r>
          </a:p>
          <a:p>
            <a:pPr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Identifying near-miss incidents</a:t>
            </a:r>
          </a:p>
          <a:p>
            <a:pPr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Tracking vehicle location</a:t>
            </a:r>
          </a:p>
          <a:p>
            <a:pPr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Integrating multiple data sources</a:t>
            </a:r>
          </a:p>
          <a:p>
            <a:pPr>
              <a:lnSpc>
                <a:spcPct val="100000"/>
              </a:lnSpc>
            </a:pPr>
            <a:endParaRPr lang="ar-SY" sz="2000" b="1" dirty="0" smtClean="0">
              <a:latin typeface="Times New Roman" panose="02020603050405020304" pitchFamily="18" charset="0"/>
              <a:cs typeface="+mj-cs"/>
            </a:endParaRPr>
          </a:p>
          <a:p>
            <a:pPr eaLnBrk="0" fontAlgn="base" hangingPunct="0">
              <a:lnSpc>
                <a:spcPct val="100000"/>
              </a:lnSpc>
              <a:spcBef>
                <a:spcPct val="0"/>
              </a:spcBef>
              <a:spcAft>
                <a:spcPct val="0"/>
              </a:spcAft>
            </a:pPr>
            <a:endParaRPr lang="en-US" altLang="en-US" sz="1800" b="1" dirty="0">
              <a:latin typeface="Arial" panose="020B0604020202020204" pitchFamily="34" charset="0"/>
              <a:cs typeface="+mj-cs"/>
            </a:endParaRPr>
          </a:p>
          <a:p>
            <a:pPr marL="0" indent="0" eaLnBrk="0" fontAlgn="base" hangingPunct="0">
              <a:lnSpc>
                <a:spcPct val="100000"/>
              </a:lnSpc>
              <a:spcBef>
                <a:spcPct val="0"/>
              </a:spcBef>
              <a:spcAft>
                <a:spcPct val="0"/>
              </a:spcAft>
              <a:buNone/>
            </a:pPr>
            <a:endParaRPr lang="ar-SY" sz="1800" dirty="0" smtClean="0">
              <a:cs typeface="+mj-cs"/>
            </a:endParaRPr>
          </a:p>
          <a:p>
            <a:pPr marL="0" indent="0">
              <a:lnSpc>
                <a:spcPct val="100000"/>
              </a:lnSpc>
              <a:buNone/>
            </a:pPr>
            <a:r>
              <a:rPr lang="en-US" dirty="0" smtClean="0">
                <a:cs typeface="+mj-cs"/>
              </a:rPr>
              <a:t/>
            </a:r>
            <a:br>
              <a:rPr lang="en-US" dirty="0" smtClean="0">
                <a:cs typeface="+mj-cs"/>
              </a:rPr>
            </a:br>
            <a:endParaRPr lang="en-US" altLang="en-US" dirty="0">
              <a:latin typeface="Times New Roman" panose="02020603050405020304" pitchFamily="18" charset="0"/>
              <a:cs typeface="+mj-cs"/>
            </a:endParaRPr>
          </a:p>
        </p:txBody>
      </p:sp>
      <p:sp>
        <p:nvSpPr>
          <p:cNvPr id="4" name="Slide Number Placeholder 3"/>
          <p:cNvSpPr>
            <a:spLocks noGrp="1"/>
          </p:cNvSpPr>
          <p:nvPr>
            <p:ph type="sldNum" sz="quarter" idx="12"/>
          </p:nvPr>
        </p:nvSpPr>
        <p:spPr/>
        <p:txBody>
          <a:bodyPr/>
          <a:lstStyle/>
          <a:p>
            <a:pPr algn="l"/>
            <a:fld id="{33896C7E-A916-41EB-B46D-FD73DBAC0E04}" type="slidenum">
              <a:rPr lang="en-US" smtClean="0">
                <a:cs typeface="+mj-cs"/>
              </a:rPr>
              <a:pPr algn="l"/>
              <a:t>4</a:t>
            </a:fld>
            <a:endParaRPr lang="en-US">
              <a:cs typeface="+mj-cs"/>
            </a:endParaRPr>
          </a:p>
        </p:txBody>
      </p:sp>
      <p:sp>
        <p:nvSpPr>
          <p:cNvPr id="5" name="Rectangle 1"/>
          <p:cNvSpPr>
            <a:spLocks noChangeArrowheads="1"/>
          </p:cNvSpPr>
          <p:nvPr/>
        </p:nvSpPr>
        <p:spPr bwMode="auto">
          <a:xfrm>
            <a:off x="1437642" y="1462624"/>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a:p>
            <a:pPr marL="0" marR="0" lvl="0" indent="0" defTabSz="914400" rtl="0" eaLnBrk="0" fontAlgn="base" latinLnBrk="0" hangingPunct="0">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p:txBody>
      </p:sp>
      <p:sp>
        <p:nvSpPr>
          <p:cNvPr id="6" name="Rectangle 1"/>
          <p:cNvSpPr>
            <a:spLocks noChangeArrowheads="1"/>
          </p:cNvSpPr>
          <p:nvPr/>
        </p:nvSpPr>
        <p:spPr bwMode="auto">
          <a:xfrm>
            <a:off x="1702458" y="2438323"/>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a:p>
            <a:pPr marL="0" marR="0" lvl="0" indent="0" defTabSz="914400" rtl="0" eaLnBrk="0" fontAlgn="base" latinLnBrk="0" hangingPunct="0">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p:txBody>
      </p:sp>
      <p:sp>
        <p:nvSpPr>
          <p:cNvPr id="7" name="Rectangle 2"/>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a:p>
            <a:pPr marL="0" marR="0" lvl="0" indent="0" defTabSz="914400" rtl="0" eaLnBrk="0" fontAlgn="base" latinLnBrk="0" hangingPunct="0">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cs typeface="+mj-cs"/>
            </a:endParaRPr>
          </a:p>
        </p:txBody>
      </p:sp>
    </p:spTree>
    <p:extLst>
      <p:ext uri="{BB962C8B-B14F-4D97-AF65-F5344CB8AC3E}">
        <p14:creationId xmlns:p14="http://schemas.microsoft.com/office/powerpoint/2010/main" val="9019441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Recent seminar </a:t>
            </a:r>
            <a:endParaRPr lang="en-US" dirty="0"/>
          </a:p>
        </p:txBody>
      </p:sp>
      <p:sp>
        <p:nvSpPr>
          <p:cNvPr id="3" name="Content Placeholder 2"/>
          <p:cNvSpPr>
            <a:spLocks noGrp="1"/>
          </p:cNvSpPr>
          <p:nvPr>
            <p:ph idx="1"/>
          </p:nvPr>
        </p:nvSpPr>
        <p:spPr/>
        <p:txBody>
          <a:bodyPr/>
          <a:lstStyle/>
          <a:p>
            <a:r>
              <a:rPr lang="en-US" dirty="0" smtClean="0"/>
              <a:t>Creating a black box for cars </a:t>
            </a:r>
            <a:r>
              <a:rPr lang="en-US" dirty="0"/>
              <a:t>based on the ESP32 </a:t>
            </a:r>
            <a:r>
              <a:rPr lang="en-US" dirty="0" smtClean="0"/>
              <a:t>microcontroller</a:t>
            </a:r>
          </a:p>
          <a:p>
            <a:pPr marL="0" indent="0">
              <a:buNone/>
            </a:pPr>
            <a:r>
              <a:rPr lang="en-US" dirty="0" smtClean="0"/>
              <a:t>Designed for  </a:t>
            </a:r>
            <a:r>
              <a:rPr lang="en-US" dirty="0"/>
              <a:t>monitor, record, and </a:t>
            </a:r>
            <a:r>
              <a:rPr lang="en-US" dirty="0" err="1"/>
              <a:t>analyse</a:t>
            </a:r>
            <a:r>
              <a:rPr lang="en-US" dirty="0"/>
              <a:t> important vehicle data during normal driving </a:t>
            </a:r>
            <a:r>
              <a:rPr lang="en-US" dirty="0" smtClean="0"/>
              <a:t>conditions by reading sensors (LM35,MPU6050,MQ3,Vibrator sensor…) and sent data to esp32 </a:t>
            </a:r>
          </a:p>
          <a:p>
            <a:pPr marL="0" indent="0">
              <a:buNone/>
            </a:pPr>
            <a:r>
              <a:rPr lang="en-US" dirty="0" smtClean="0"/>
              <a:t>And store the data after processing it in </a:t>
            </a:r>
            <a:r>
              <a:rPr lang="en-US" dirty="0" err="1" smtClean="0"/>
              <a:t>simcard</a:t>
            </a:r>
            <a:r>
              <a:rPr lang="en-US" dirty="0" smtClean="0"/>
              <a:t> to see the parameter of sensor which installed on our project</a:t>
            </a:r>
            <a:endParaRPr lang="en-US" dirty="0"/>
          </a:p>
        </p:txBody>
      </p:sp>
      <p:sp>
        <p:nvSpPr>
          <p:cNvPr id="4" name="Slide Number Placeholder 3"/>
          <p:cNvSpPr>
            <a:spLocks noGrp="1"/>
          </p:cNvSpPr>
          <p:nvPr>
            <p:ph type="sldNum" sz="quarter" idx="12"/>
          </p:nvPr>
        </p:nvSpPr>
        <p:spPr/>
        <p:txBody>
          <a:bodyPr/>
          <a:lstStyle/>
          <a:p>
            <a:fld id="{33896C7E-A916-41EB-B46D-FD73DBAC0E04}" type="slidenum">
              <a:rPr lang="en-US" smtClean="0"/>
              <a:t>5</a:t>
            </a:fld>
            <a:endParaRPr lang="en-US"/>
          </a:p>
        </p:txBody>
      </p:sp>
    </p:spTree>
    <p:extLst>
      <p:ext uri="{BB962C8B-B14F-4D97-AF65-F5344CB8AC3E}">
        <p14:creationId xmlns:p14="http://schemas.microsoft.com/office/powerpoint/2010/main" val="3585161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030" y="125729"/>
            <a:ext cx="9404723" cy="1239520"/>
          </a:xfrm>
        </p:spPr>
        <p:txBody>
          <a:bodyPr>
            <a:normAutofit/>
          </a:bodyPr>
          <a:lstStyle/>
          <a:p>
            <a:pPr algn="l"/>
            <a:r>
              <a:rPr lang="en-US" sz="3600" dirty="0" smtClean="0">
                <a:solidFill>
                  <a:schemeClr val="tx1">
                    <a:lumMod val="95000"/>
                    <a:lumOff val="5000"/>
                  </a:schemeClr>
                </a:solidFill>
                <a:latin typeface="Times New Roman" panose="02020603050405020304" pitchFamily="18" charset="0"/>
              </a:rPr>
              <a:t>Methodology</a:t>
            </a:r>
            <a:endParaRPr lang="en-US" sz="3600" b="1" dirty="0"/>
          </a:p>
        </p:txBody>
      </p:sp>
      <p:sp>
        <p:nvSpPr>
          <p:cNvPr id="3" name="Content Placeholder 2"/>
          <p:cNvSpPr>
            <a:spLocks noGrp="1"/>
          </p:cNvSpPr>
          <p:nvPr>
            <p:ph idx="1"/>
          </p:nvPr>
        </p:nvSpPr>
        <p:spPr>
          <a:xfrm>
            <a:off x="724832" y="1489456"/>
            <a:ext cx="8946541" cy="4287519"/>
          </a:xfrm>
        </p:spPr>
        <p:txBody>
          <a:bodyPr>
            <a:normAutofit/>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Hardware Selection and Setup</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Sensor Data Acquisition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Video Recording and Data Storage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Raspberry Pi Integration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Near-Crash Detection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System Testing and </a:t>
            </a:r>
            <a:r>
              <a:rPr lang="en-US" dirty="0" smtClean="0">
                <a:latin typeface="Times New Roman" panose="02020603050405020304" pitchFamily="18" charset="0"/>
                <a:cs typeface="Times New Roman" panose="02020603050405020304" pitchFamily="18" charset="0"/>
              </a:rPr>
              <a:t>Evaluation</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cs typeface="+mj-cs"/>
            </a:endParaRPr>
          </a:p>
          <a:p>
            <a:pPr marL="914400" lvl="1" indent="-457200">
              <a:buFont typeface="+mj-lt"/>
              <a:buAutoNum type="arabicPeriod"/>
            </a:pPr>
            <a:endParaRPr lang="en-US" dirty="0">
              <a:cs typeface="+mj-cs"/>
            </a:endParaRPr>
          </a:p>
          <a:p>
            <a:pPr marL="514350" indent="-514350" algn="r" rtl="1">
              <a:buFont typeface="+mj-lt"/>
              <a:buAutoNum type="arabicPeriod"/>
            </a:pPr>
            <a:endParaRPr lang="ar-SY" dirty="0">
              <a:cs typeface="+mj-cs"/>
            </a:endParaRPr>
          </a:p>
          <a:p>
            <a:pPr marL="514350" indent="-514350" algn="r" rtl="1">
              <a:buFont typeface="+mj-lt"/>
              <a:buAutoNum type="arabicPeriod"/>
            </a:pPr>
            <a:endParaRPr lang="ar-SY" dirty="0">
              <a:cs typeface="+mj-cs"/>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6</a:t>
            </a:fld>
            <a:endParaRPr lang="en-US"/>
          </a:p>
        </p:txBody>
      </p:sp>
    </p:spTree>
    <p:extLst>
      <p:ext uri="{BB962C8B-B14F-4D97-AF65-F5344CB8AC3E}">
        <p14:creationId xmlns:p14="http://schemas.microsoft.com/office/powerpoint/2010/main" val="1254884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02865"/>
            <a:ext cx="10515600" cy="4351338"/>
          </a:xfrm>
        </p:spPr>
        <p:txBody>
          <a:bodyPr>
            <a:normAutofit/>
          </a:bodyPr>
          <a:lstStyle/>
          <a:p>
            <a:pPr marL="0" indent="0" algn="ctr">
              <a:lnSpc>
                <a:spcPct val="150000"/>
              </a:lnSpc>
              <a:buNone/>
            </a:pPr>
            <a:r>
              <a:rPr lang="en-US" sz="3200" dirty="0">
                <a:solidFill>
                  <a:schemeClr val="tx1">
                    <a:lumMod val="95000"/>
                    <a:lumOff val="5000"/>
                  </a:schemeClr>
                </a:solidFill>
                <a:latin typeface="Times New Roman" panose="02020603050405020304" pitchFamily="18" charset="0"/>
              </a:rPr>
              <a:t>Reference studies</a:t>
            </a:r>
          </a:p>
        </p:txBody>
      </p:sp>
      <p:sp>
        <p:nvSpPr>
          <p:cNvPr id="4" name="Slide Number Placeholder 3"/>
          <p:cNvSpPr>
            <a:spLocks noGrp="1"/>
          </p:cNvSpPr>
          <p:nvPr>
            <p:ph type="sldNum" sz="quarter" idx="12"/>
          </p:nvPr>
        </p:nvSpPr>
        <p:spPr/>
        <p:txBody>
          <a:bodyPr/>
          <a:lstStyle/>
          <a:p>
            <a:fld id="{33896C7E-A916-41EB-B46D-FD73DBAC0E04}" type="slidenum">
              <a:rPr lang="en-US" smtClean="0"/>
              <a:t>7</a:t>
            </a:fld>
            <a:endParaRPr lang="en-US"/>
          </a:p>
        </p:txBody>
      </p:sp>
    </p:spTree>
    <p:extLst>
      <p:ext uri="{BB962C8B-B14F-4D97-AF65-F5344CB8AC3E}">
        <p14:creationId xmlns:p14="http://schemas.microsoft.com/office/powerpoint/2010/main" val="33053021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452852681"/>
              </p:ext>
            </p:extLst>
          </p:nvPr>
        </p:nvGraphicFramePr>
        <p:xfrm>
          <a:off x="603504" y="27432"/>
          <a:ext cx="10558272" cy="5312664"/>
        </p:xfrm>
        <a:graphic>
          <a:graphicData uri="http://schemas.openxmlformats.org/drawingml/2006/table">
            <a:tbl>
              <a:tblPr firstRow="1" bandRow="1">
                <a:tableStyleId>{5C22544A-7EE6-4342-B048-85BDC9FD1C3A}</a:tableStyleId>
              </a:tblPr>
              <a:tblGrid>
                <a:gridCol w="3519424">
                  <a:extLst>
                    <a:ext uri="{9D8B030D-6E8A-4147-A177-3AD203B41FA5}">
                      <a16:colId xmlns:a16="http://schemas.microsoft.com/office/drawing/2014/main" val="3966014652"/>
                    </a:ext>
                  </a:extLst>
                </a:gridCol>
                <a:gridCol w="3519424">
                  <a:extLst>
                    <a:ext uri="{9D8B030D-6E8A-4147-A177-3AD203B41FA5}">
                      <a16:colId xmlns:a16="http://schemas.microsoft.com/office/drawing/2014/main" val="4116288622"/>
                    </a:ext>
                  </a:extLst>
                </a:gridCol>
                <a:gridCol w="3519424">
                  <a:extLst>
                    <a:ext uri="{9D8B030D-6E8A-4147-A177-3AD203B41FA5}">
                      <a16:colId xmlns:a16="http://schemas.microsoft.com/office/drawing/2014/main" val="3008916011"/>
                    </a:ext>
                  </a:extLst>
                </a:gridCol>
              </a:tblGrid>
              <a:tr h="395639">
                <a:tc>
                  <a:txBody>
                    <a:bodyPr/>
                    <a:lstStyle/>
                    <a:p>
                      <a:pPr algn="ctr"/>
                      <a:r>
                        <a:rPr lang="en-US" sz="1600" dirty="0" smtClean="0">
                          <a:latin typeface="Times New Roman" panose="02020603050405020304" pitchFamily="18" charset="0"/>
                          <a:cs typeface="+mj-cs"/>
                        </a:rPr>
                        <a:t>Paper reference</a:t>
                      </a:r>
                      <a:endParaRPr lang="en-US" sz="1600" dirty="0">
                        <a:latin typeface="Times New Roman" panose="02020603050405020304" pitchFamily="18" charset="0"/>
                        <a:cs typeface="+mj-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anose="02020603050405020304" pitchFamily="18" charset="0"/>
                          <a:cs typeface="+mj-cs"/>
                        </a:rPr>
                        <a:t>principle</a:t>
                      </a:r>
                    </a:p>
                  </a:txBody>
                  <a:tcPr/>
                </a:tc>
                <a:tc>
                  <a:txBody>
                    <a:bodyPr/>
                    <a:lstStyle/>
                    <a:p>
                      <a:pPr algn="ctr"/>
                      <a:r>
                        <a:rPr lang="en-US" sz="1600" dirty="0" smtClean="0">
                          <a:latin typeface="Times New Roman" panose="02020603050405020304" pitchFamily="18" charset="0"/>
                          <a:cs typeface="+mj-cs"/>
                        </a:rPr>
                        <a:t>Methodology</a:t>
                      </a:r>
                      <a:endParaRPr lang="en-US" sz="1600" dirty="0">
                        <a:latin typeface="Times New Roman" panose="02020603050405020304" pitchFamily="18" charset="0"/>
                        <a:cs typeface="+mj-cs"/>
                      </a:endParaRPr>
                    </a:p>
                  </a:txBody>
                  <a:tcPr/>
                </a:tc>
                <a:extLst>
                  <a:ext uri="{0D108BD9-81ED-4DB2-BD59-A6C34878D82A}">
                    <a16:rowId xmlns:a16="http://schemas.microsoft.com/office/drawing/2014/main" val="3383142192"/>
                  </a:ext>
                </a:extLst>
              </a:tr>
              <a:tr h="1286857">
                <a:tc>
                  <a:txBody>
                    <a:bodyPr/>
                    <a:lstStyle/>
                    <a:p>
                      <a:pPr algn="ctr"/>
                      <a:r>
                        <a:rPr lang="en-US" sz="1600" dirty="0" smtClean="0">
                          <a:latin typeface="Times New Roman" panose="02020603050405020304" pitchFamily="18" charset="0"/>
                          <a:cs typeface="+mj-cs"/>
                        </a:rPr>
                        <a:t>[1</a:t>
                      </a:r>
                      <a:r>
                        <a:rPr lang="en-US" sz="1600" dirty="0" smtClean="0">
                          <a:latin typeface="Times New Roman" panose="02020603050405020304" pitchFamily="18" charset="0"/>
                          <a:cs typeface="+mj-cs"/>
                        </a:rPr>
                        <a:t>]</a:t>
                      </a:r>
                      <a:r>
                        <a:rPr lang="en-US" sz="1600" dirty="0" smtClean="0"/>
                        <a:t> </a:t>
                      </a:r>
                      <a:r>
                        <a:rPr lang="en-US" sz="1600" dirty="0" err="1" smtClean="0"/>
                        <a:t>Ultralytics</a:t>
                      </a:r>
                      <a:r>
                        <a:rPr lang="en-US" sz="1600" dirty="0" smtClean="0"/>
                        <a:t>, YOLO26 on Raspberry Pi Setup &amp; Benchmarks</a:t>
                      </a:r>
                      <a:endParaRPr lang="en-US" sz="1600" dirty="0">
                        <a:latin typeface="Times New Roman" panose="02020603050405020304" pitchFamily="18" charset="0"/>
                        <a:cs typeface="+mj-cs"/>
                      </a:endParaRPr>
                    </a:p>
                  </a:txBody>
                  <a:tcPr/>
                </a:tc>
                <a:tc>
                  <a:txBody>
                    <a:bodyPr/>
                    <a:lstStyle/>
                    <a:p>
                      <a:pPr algn="ctr"/>
                      <a:r>
                        <a:rPr lang="en-US" sz="1600" dirty="0" smtClean="0"/>
                        <a:t>OLO detects objects in video frames and identifies their classes, such as cars and pedestrians, using bounding boxes and confidence scores.</a:t>
                      </a:r>
                      <a:endParaRPr lang="en-US" sz="1600" dirty="0">
                        <a:latin typeface="Times New Roman" panose="02020603050405020304" pitchFamily="18" charset="0"/>
                        <a:cs typeface="+mj-cs"/>
                      </a:endParaRPr>
                    </a:p>
                  </a:txBody>
                  <a:tcPr/>
                </a:tc>
                <a:tc>
                  <a:txBody>
                    <a:bodyPr/>
                    <a:lstStyle/>
                    <a:p>
                      <a:pPr algn="ctr"/>
                      <a:r>
                        <a:rPr lang="en-US" sz="1600" dirty="0" smtClean="0"/>
                        <a:t>OLO detects objects in video frames and identifies their classes, such as cars and pedestrians, using bounding boxes and confidence </a:t>
                      </a:r>
                      <a:r>
                        <a:rPr lang="en-US" sz="1600" dirty="0" err="1" smtClean="0"/>
                        <a:t>scores.</a:t>
                      </a:r>
                      <a:r>
                        <a:rPr lang="en-US" sz="1600" dirty="0" err="1" smtClean="0">
                          <a:cs typeface="+mj-cs"/>
                        </a:rPr>
                        <a:t>communicati</a:t>
                      </a:r>
                      <a:r>
                        <a:rPr lang="en-US" sz="1600" i="0" dirty="0" err="1" smtClean="0">
                          <a:cs typeface="+mj-cs"/>
                        </a:rPr>
                        <a:t>o</a:t>
                      </a:r>
                      <a:r>
                        <a:rPr lang="en-US" sz="1600" dirty="0" err="1" smtClean="0">
                          <a:cs typeface="+mj-cs"/>
                        </a:rPr>
                        <a:t>n</a:t>
                      </a:r>
                      <a:endParaRPr lang="en-US" sz="1600" dirty="0">
                        <a:latin typeface="Times New Roman" panose="02020603050405020304" pitchFamily="18" charset="0"/>
                        <a:cs typeface="+mj-cs"/>
                      </a:endParaRPr>
                    </a:p>
                  </a:txBody>
                  <a:tcPr/>
                </a:tc>
                <a:extLst>
                  <a:ext uri="{0D108BD9-81ED-4DB2-BD59-A6C34878D82A}">
                    <a16:rowId xmlns:a16="http://schemas.microsoft.com/office/drawing/2014/main" val="3621301538"/>
                  </a:ext>
                </a:extLst>
              </a:tr>
              <a:tr h="1344168">
                <a:tc>
                  <a:txBody>
                    <a:bodyPr/>
                    <a:lstStyle/>
                    <a:p>
                      <a:pPr algn="ctr"/>
                      <a:r>
                        <a:rPr lang="en-US" sz="1600" dirty="0" smtClean="0">
                          <a:latin typeface="Times New Roman" panose="02020603050405020304" pitchFamily="18" charset="0"/>
                          <a:cs typeface="+mj-cs"/>
                        </a:rPr>
                        <a:t>[2]</a:t>
                      </a:r>
                      <a:r>
                        <a:rPr lang="ar-SY" sz="1600" dirty="0" smtClean="0">
                          <a:latin typeface="Times New Roman" panose="02020603050405020304" pitchFamily="18" charset="0"/>
                          <a:cs typeface="+mj-cs"/>
                        </a:rPr>
                        <a:t> </a:t>
                      </a:r>
                      <a:r>
                        <a:rPr lang="en-US" sz="1600" dirty="0" err="1" smtClean="0"/>
                        <a:t>Ultralytics</a:t>
                      </a:r>
                      <a:r>
                        <a:rPr lang="en-US" sz="1600" dirty="0" smtClean="0"/>
                        <a:t>, Multi-Object Tracking</a:t>
                      </a:r>
                      <a:endParaRPr lang="en-US" sz="1600" dirty="0">
                        <a:latin typeface="Times New Roman" panose="02020603050405020304" pitchFamily="18" charset="0"/>
                        <a:cs typeface="+mj-cs"/>
                      </a:endParaRPr>
                    </a:p>
                  </a:txBody>
                  <a:tcPr/>
                </a:tc>
                <a:tc>
                  <a:txBody>
                    <a:bodyPr/>
                    <a:lstStyle/>
                    <a:p>
                      <a:pPr algn="ctr"/>
                      <a:r>
                        <a:rPr lang="en-US" sz="1600" dirty="0" smtClean="0"/>
                        <a:t>Object tracking maintains object identities across consecutive video frames, allowing the system to monitor their movement and trajectories.</a:t>
                      </a:r>
                      <a:endParaRPr lang="en-US" sz="1600" dirty="0">
                        <a:latin typeface="Times New Roman" panose="02020603050405020304" pitchFamily="18" charset="0"/>
                        <a:cs typeface="+mj-cs"/>
                      </a:endParaRPr>
                    </a:p>
                  </a:txBody>
                  <a:tcPr/>
                </a:tc>
                <a:tc>
                  <a:txBody>
                    <a:bodyPr/>
                    <a:lstStyle/>
                    <a:p>
                      <a:pPr algn="ctr"/>
                      <a:r>
                        <a:rPr lang="en-US" sz="1600" dirty="0" err="1" smtClean="0"/>
                        <a:t>ByteTrack</a:t>
                      </a:r>
                      <a:r>
                        <a:rPr lang="en-US" sz="1600" dirty="0" smtClean="0"/>
                        <a:t> is used with YOLO detections to track vehicles and pedestrians. The resulting trajectories are analyzed to identify potentially dangerous interactions.</a:t>
                      </a:r>
                      <a:endParaRPr lang="en-US" sz="1600" dirty="0">
                        <a:cs typeface="+mj-cs"/>
                      </a:endParaRPr>
                    </a:p>
                  </a:txBody>
                  <a:tcPr/>
                </a:tc>
                <a:extLst>
                  <a:ext uri="{0D108BD9-81ED-4DB2-BD59-A6C34878D82A}">
                    <a16:rowId xmlns:a16="http://schemas.microsoft.com/office/drawing/2014/main" val="1732018726"/>
                  </a:ext>
                </a:extLst>
              </a:tr>
              <a:tr h="395639">
                <a:tc>
                  <a:txBody>
                    <a:bodyPr/>
                    <a:lstStyle/>
                    <a:p>
                      <a:pPr algn="ctr"/>
                      <a:r>
                        <a:rPr lang="en-US" sz="1600" dirty="0" smtClean="0">
                          <a:cs typeface="+mj-cs"/>
                        </a:rPr>
                        <a:t>[3]</a:t>
                      </a:r>
                      <a:r>
                        <a:rPr lang="en-US" sz="1600" baseline="0" dirty="0" smtClean="0">
                          <a:cs typeface="+mj-cs"/>
                        </a:rPr>
                        <a:t> </a:t>
                      </a:r>
                      <a:r>
                        <a:rPr lang="en-US" sz="1600" dirty="0" smtClean="0"/>
                        <a:t>Raspberry Pi Ltd., Raspberry Pi Documentation</a:t>
                      </a:r>
                      <a:endParaRPr lang="en-US" sz="1600" dirty="0">
                        <a:latin typeface="Times New Roman" panose="02020603050405020304" pitchFamily="18" charset="0"/>
                        <a:cs typeface="+mj-cs"/>
                      </a:endParaRPr>
                    </a:p>
                  </a:txBody>
                  <a:tcPr/>
                </a:tc>
                <a:tc>
                  <a:txBody>
                    <a:bodyPr/>
                    <a:lstStyle/>
                    <a:p>
                      <a:pPr algn="ctr"/>
                      <a:r>
                        <a:rPr lang="en-US" sz="1600" dirty="0" smtClean="0"/>
                        <a:t>The Raspberry Pi is a compact, single-board computer capable of running operating systems and software applications for image processing, sensor communication, and real-time data analysis.</a:t>
                      </a:r>
                      <a:endParaRPr lang="en-US" sz="1600" dirty="0">
                        <a:latin typeface="Times New Roman" panose="02020603050405020304" pitchFamily="18" charset="0"/>
                        <a:cs typeface="+mj-cs"/>
                      </a:endParaRPr>
                    </a:p>
                  </a:txBody>
                  <a:tcPr/>
                </a:tc>
                <a:tc>
                  <a:txBody>
                    <a:bodyPr/>
                    <a:lstStyle/>
                    <a:p>
                      <a:pPr algn="ctr"/>
                      <a:r>
                        <a:rPr lang="en-US" sz="1600" dirty="0" smtClean="0"/>
                        <a:t>The Raspberry Pi is used as the main processing unit for video analysis. It receives video from the camera, runs the object detection and tracking algorithms, and communicates with the ESP32 to combine visual information with sensor readings for potential near-miss detection.</a:t>
                      </a:r>
                    </a:p>
                    <a:p>
                      <a:pPr algn="ctr"/>
                      <a:endParaRPr lang="en-US" sz="1600" dirty="0">
                        <a:latin typeface="Times New Roman" panose="02020603050405020304" pitchFamily="18" charset="0"/>
                        <a:cs typeface="+mj-cs"/>
                      </a:endParaRPr>
                    </a:p>
                  </a:txBody>
                  <a:tcPr/>
                </a:tc>
                <a:extLst>
                  <a:ext uri="{0D108BD9-81ED-4DB2-BD59-A6C34878D82A}">
                    <a16:rowId xmlns:a16="http://schemas.microsoft.com/office/drawing/2014/main" val="3235232920"/>
                  </a:ext>
                </a:extLst>
              </a:tr>
            </a:tbl>
          </a:graphicData>
        </a:graphic>
      </p:graphicFrame>
      <p:sp>
        <p:nvSpPr>
          <p:cNvPr id="4" name="Slide Number Placeholder 3"/>
          <p:cNvSpPr>
            <a:spLocks noGrp="1"/>
          </p:cNvSpPr>
          <p:nvPr>
            <p:ph type="sldNum" sz="quarter" idx="12"/>
          </p:nvPr>
        </p:nvSpPr>
        <p:spPr/>
        <p:txBody>
          <a:bodyPr/>
          <a:lstStyle/>
          <a:p>
            <a:fld id="{33896C7E-A916-41EB-B46D-FD73DBAC0E04}" type="slidenum">
              <a:rPr lang="en-US" smtClean="0"/>
              <a:t>8</a:t>
            </a:fld>
            <a:endParaRPr lang="en-US"/>
          </a:p>
        </p:txBody>
      </p:sp>
    </p:spTree>
    <p:extLst>
      <p:ext uri="{BB962C8B-B14F-4D97-AF65-F5344CB8AC3E}">
        <p14:creationId xmlns:p14="http://schemas.microsoft.com/office/powerpoint/2010/main" val="38189182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253"/>
            <a:ext cx="10515600" cy="1325563"/>
          </a:xfrm>
        </p:spPr>
        <p:txBody>
          <a:bodyPr/>
          <a:lstStyle/>
          <a:p>
            <a:r>
              <a:rPr lang="en-US" dirty="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rPr>
              <a:t>Theoretical </a:t>
            </a:r>
            <a:r>
              <a:rPr lang="en-US" dirty="0" smtClean="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rPr>
              <a:t>Fundamental</a:t>
            </a:r>
            <a:endParaRPr lang="en-US" dirty="0"/>
          </a:p>
        </p:txBody>
      </p:sp>
      <p:sp>
        <p:nvSpPr>
          <p:cNvPr id="3" name="Content Placeholder 2"/>
          <p:cNvSpPr>
            <a:spLocks noGrp="1"/>
          </p:cNvSpPr>
          <p:nvPr>
            <p:ph idx="1"/>
          </p:nvPr>
        </p:nvSpPr>
        <p:spPr>
          <a:xfrm>
            <a:off x="716280" y="2374992"/>
            <a:ext cx="10759440" cy="4163920"/>
          </a:xfrm>
        </p:spPr>
        <p:txBody>
          <a:bodyPr>
            <a:normAutofit/>
          </a:bodyPr>
          <a:lstStyle/>
          <a:p>
            <a:r>
              <a:rPr lang="en-US" dirty="0">
                <a:latin typeface="Times New Roman" panose="02020603050405020304" pitchFamily="18" charset="0"/>
                <a:cs typeface="Times New Roman" panose="02020603050405020304" pitchFamily="18" charset="0"/>
              </a:rPr>
              <a:t>Connecting ESP32 with Raspberry Pi for Near-Miss Incident Detection</a:t>
            </a:r>
          </a:p>
          <a:p>
            <a:pPr marL="0" indent="0">
              <a:buNone/>
            </a:pPr>
            <a:r>
              <a:rPr lang="en-US" dirty="0">
                <a:latin typeface="Times New Roman" panose="02020603050405020304" pitchFamily="18" charset="0"/>
                <a:cs typeface="Times New Roman" panose="02020603050405020304" pitchFamily="18" charset="0"/>
              </a:rPr>
              <a:t>The main idea of our Wireless Black Box for Cars project is to use the ESP32 to collect sensor data and the Raspberry Pi to analyze camera footage. </a:t>
            </a:r>
            <a:r>
              <a:rPr lang="en-US" dirty="0">
                <a:latin typeface="Times New Roman" panose="02020603050405020304" pitchFamily="18" charset="0"/>
                <a:cs typeface="Times New Roman" panose="02020603050405020304" pitchFamily="18" charset="0"/>
              </a:rPr>
              <a:t>By combining both sources of information, the system can identify potentially dangerous driving situations, known as Near-Miss Incidents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endParaRPr lang="en-US" alt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9</a:t>
            </a:fld>
            <a:endParaRPr lang="en-US"/>
          </a:p>
        </p:txBody>
      </p:sp>
      <p:sp>
        <p:nvSpPr>
          <p:cNvPr id="5" name="TextBox 4"/>
          <p:cNvSpPr txBox="1"/>
          <p:nvPr/>
        </p:nvSpPr>
        <p:spPr>
          <a:xfrm>
            <a:off x="9656064" y="5928103"/>
            <a:ext cx="2874264" cy="338554"/>
          </a:xfrm>
          <a:prstGeom prst="rect">
            <a:avLst/>
          </a:prstGeom>
          <a:noFill/>
        </p:spPr>
        <p:txBody>
          <a:bodyPr wrap="square" rtlCol="0">
            <a:spAutoFit/>
          </a:bodyPr>
          <a:lstStyle/>
          <a:p>
            <a:r>
              <a:rPr lang="en-US" sz="1600" dirty="0" smtClean="0">
                <a:latin typeface="Times New Roman" panose="02020603050405020304" pitchFamily="18" charset="0"/>
                <a:cs typeface="Times New Roman" panose="02020603050405020304" pitchFamily="18" charset="0"/>
              </a:rPr>
              <a:t>I2C=</a:t>
            </a:r>
            <a:r>
              <a:rPr lang="en-US" sz="1600" dirty="0">
                <a:latin typeface="Times New Roman" panose="02020603050405020304" pitchFamily="18" charset="0"/>
                <a:cs typeface="Times New Roman" panose="02020603050405020304" pitchFamily="18" charset="0"/>
              </a:rPr>
              <a:t> Inter-Integrated Circuit</a:t>
            </a:r>
          </a:p>
        </p:txBody>
      </p:sp>
      <p:sp>
        <p:nvSpPr>
          <p:cNvPr id="7" name="Rectangle 2"/>
          <p:cNvSpPr>
            <a:spLocks noChangeArrowheads="1"/>
          </p:cNvSpPr>
          <p:nvPr/>
        </p:nvSpPr>
        <p:spPr bwMode="auto">
          <a:xfrm>
            <a:off x="838200" y="4824907"/>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3402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4192" y="856361"/>
            <a:ext cx="10515600" cy="4351338"/>
          </a:xfrm>
        </p:spPr>
        <p:txBody>
          <a:bodyPr/>
          <a:lstStyle/>
          <a:p>
            <a:r>
              <a:rPr lang="en-US" dirty="0">
                <a:latin typeface="Times New Roman" panose="02020603050405020304" pitchFamily="18" charset="0"/>
                <a:cs typeface="Times New Roman" panose="02020603050405020304" pitchFamily="18" charset="0"/>
              </a:rPr>
              <a:t>Option 1: Wired </a:t>
            </a:r>
            <a:r>
              <a:rPr lang="en-US" dirty="0" smtClean="0">
                <a:latin typeface="Times New Roman" panose="02020603050405020304" pitchFamily="18" charset="0"/>
                <a:cs typeface="Times New Roman" panose="02020603050405020304" pitchFamily="18" charset="0"/>
              </a:rPr>
              <a:t>Communication </a:t>
            </a:r>
            <a:r>
              <a:rPr lang="en-US" dirty="0">
                <a:latin typeface="Times New Roman" panose="02020603050405020304" pitchFamily="18" charset="0"/>
                <a:cs typeface="Times New Roman" panose="02020603050405020304" pitchFamily="18" charset="0"/>
              </a:rPr>
              <a:t>Using USB </a:t>
            </a:r>
            <a:r>
              <a:rPr lang="en-US" dirty="0" smtClean="0">
                <a:latin typeface="Times New Roman" panose="02020603050405020304" pitchFamily="18" charset="0"/>
                <a:cs typeface="Times New Roman" panose="02020603050405020304" pitchFamily="18" charset="0"/>
              </a:rPr>
              <a:t>Serial</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ESP32 sends sensor readings to the Raspberry Pi through a USB </a:t>
            </a:r>
            <a:r>
              <a:rPr lang="en-US" dirty="0" smtClean="0">
                <a:latin typeface="Times New Roman" panose="02020603050405020304" pitchFamily="18" charset="0"/>
                <a:cs typeface="Times New Roman" panose="02020603050405020304" pitchFamily="18" charset="0"/>
              </a:rPr>
              <a:t>cable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10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110517422"/>
              </p:ext>
            </p:extLst>
          </p:nvPr>
        </p:nvGraphicFramePr>
        <p:xfrm>
          <a:off x="1967992" y="2421605"/>
          <a:ext cx="8128000" cy="201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59930720"/>
                    </a:ext>
                  </a:extLst>
                </a:gridCol>
                <a:gridCol w="4064000">
                  <a:extLst>
                    <a:ext uri="{9D8B030D-6E8A-4147-A177-3AD203B41FA5}">
                      <a16:colId xmlns:a16="http://schemas.microsoft.com/office/drawing/2014/main" val="4000514661"/>
                    </a:ext>
                  </a:extLst>
                </a:gridCol>
              </a:tblGrid>
              <a:tr h="303888">
                <a:tc>
                  <a:txBody>
                    <a:bodyPr/>
                    <a:lstStyle/>
                    <a:p>
                      <a:pPr algn="ctr"/>
                      <a:r>
                        <a:rPr lang="en-US" dirty="0" smtClean="0"/>
                        <a:t>advantage</a:t>
                      </a:r>
                      <a:endParaRPr lang="en-US" dirty="0"/>
                    </a:p>
                  </a:txBody>
                  <a:tcPr/>
                </a:tc>
                <a:tc>
                  <a:txBody>
                    <a:bodyPr/>
                    <a:lstStyle/>
                    <a:p>
                      <a:pPr algn="ctr"/>
                      <a:r>
                        <a:rPr lang="en-US" dirty="0" smtClean="0"/>
                        <a:t>disadvantage</a:t>
                      </a:r>
                      <a:endParaRPr lang="en-US" dirty="0"/>
                    </a:p>
                  </a:txBody>
                  <a:tcPr/>
                </a:tc>
                <a:extLst>
                  <a:ext uri="{0D108BD9-81ED-4DB2-BD59-A6C34878D82A}">
                    <a16:rowId xmlns:a16="http://schemas.microsoft.com/office/drawing/2014/main" val="4209809060"/>
                  </a:ext>
                </a:extLst>
              </a:tr>
              <a:tr h="350182">
                <a:tc>
                  <a:txBody>
                    <a:bodyPr/>
                    <a:lstStyle/>
                    <a:p>
                      <a:pPr algn="ctr"/>
                      <a:r>
                        <a:rPr lang="en-US" dirty="0" smtClean="0"/>
                        <a:t>Easy to implement</a:t>
                      </a:r>
                      <a:endParaRPr lang="en-US" dirty="0"/>
                    </a:p>
                  </a:txBody>
                  <a:tcPr/>
                </a:tc>
                <a:tc>
                  <a:txBody>
                    <a:bodyPr/>
                    <a:lstStyle/>
                    <a:p>
                      <a:pPr algn="ctr"/>
                      <a:r>
                        <a:rPr lang="en-US" dirty="0" smtClean="0"/>
                        <a:t>Physical Cable Required</a:t>
                      </a:r>
                      <a:endParaRPr lang="en-US" dirty="0"/>
                    </a:p>
                  </a:txBody>
                  <a:tcPr/>
                </a:tc>
                <a:extLst>
                  <a:ext uri="{0D108BD9-81ED-4DB2-BD59-A6C34878D82A}">
                    <a16:rowId xmlns:a16="http://schemas.microsoft.com/office/drawing/2014/main" val="2305217886"/>
                  </a:ext>
                </a:extLst>
              </a:tr>
              <a:tr h="303888">
                <a:tc>
                  <a:txBody>
                    <a:bodyPr/>
                    <a:lstStyle/>
                    <a:p>
                      <a:pPr algn="ctr"/>
                      <a:r>
                        <a:rPr lang="en-US" dirty="0" smtClean="0"/>
                        <a:t>simple to debug</a:t>
                      </a:r>
                      <a:endParaRPr lang="en-US" dirty="0"/>
                    </a:p>
                  </a:txBody>
                  <a:tcPr/>
                </a:tc>
                <a:tc>
                  <a:txBody>
                    <a:bodyPr/>
                    <a:lstStyle/>
                    <a:p>
                      <a:pPr algn="ctr"/>
                      <a:r>
                        <a:rPr lang="en-US" dirty="0" smtClean="0"/>
                        <a:t>Cable Reliability</a:t>
                      </a:r>
                      <a:endParaRPr lang="en-US" dirty="0"/>
                    </a:p>
                  </a:txBody>
                  <a:tcPr/>
                </a:tc>
                <a:extLst>
                  <a:ext uri="{0D108BD9-81ED-4DB2-BD59-A6C34878D82A}">
                    <a16:rowId xmlns:a16="http://schemas.microsoft.com/office/drawing/2014/main" val="2412658655"/>
                  </a:ext>
                </a:extLst>
              </a:tr>
              <a:tr h="524519">
                <a:tc>
                  <a:txBody>
                    <a:bodyPr/>
                    <a:lstStyle/>
                    <a:p>
                      <a:pPr algn="ctr"/>
                      <a:r>
                        <a:rPr lang="en-US" dirty="0" smtClean="0"/>
                        <a:t>suitable for continuous sensor data transmission</a:t>
                      </a:r>
                      <a:endParaRPr lang="en-US" dirty="0"/>
                    </a:p>
                  </a:txBody>
                  <a:tcPr/>
                </a:tc>
                <a:tc>
                  <a:txBody>
                    <a:bodyPr/>
                    <a:lstStyle/>
                    <a:p>
                      <a:pPr algn="ctr"/>
                      <a:r>
                        <a:rPr lang="en-US" dirty="0" smtClean="0"/>
                        <a:t>The actual transmission rate depends on the USB interface, serial adapter, and communication settings</a:t>
                      </a:r>
                      <a:endParaRPr lang="en-US" dirty="0"/>
                    </a:p>
                  </a:txBody>
                  <a:tcPr/>
                </a:tc>
                <a:extLst>
                  <a:ext uri="{0D108BD9-81ED-4DB2-BD59-A6C34878D82A}">
                    <a16:rowId xmlns:a16="http://schemas.microsoft.com/office/drawing/2014/main" val="1981813213"/>
                  </a:ext>
                </a:extLst>
              </a:tr>
            </a:tbl>
          </a:graphicData>
        </a:graphic>
      </p:graphicFrame>
    </p:spTree>
    <p:extLst>
      <p:ext uri="{BB962C8B-B14F-4D97-AF65-F5344CB8AC3E}">
        <p14:creationId xmlns:p14="http://schemas.microsoft.com/office/powerpoint/2010/main" val="286123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1352" y="1130681"/>
            <a:ext cx="10515600" cy="4351338"/>
          </a:xfrm>
        </p:spPr>
        <p:txBody>
          <a:bodyPr/>
          <a:lstStyle/>
          <a:p>
            <a:r>
              <a:rPr lang="en-US" dirty="0">
                <a:latin typeface="Times New Roman" panose="02020603050405020304" pitchFamily="18" charset="0"/>
                <a:cs typeface="Times New Roman" panose="02020603050405020304" pitchFamily="18" charset="0"/>
              </a:rPr>
              <a:t>Option2:Wireless Communication Using Wi-Fi</a:t>
            </a:r>
          </a:p>
          <a:p>
            <a:pPr marL="0" lvl="0" indent="0" eaLnBrk="0" fontAlgn="base" hangingPunct="0">
              <a:lnSpc>
                <a:spcPct val="100000"/>
              </a:lnSpc>
              <a:spcBef>
                <a:spcPct val="0"/>
              </a:spcBef>
              <a:spcAft>
                <a:spcPct val="0"/>
              </a:spcAft>
              <a:buNone/>
            </a:pPr>
            <a:r>
              <a:rPr lang="en-US" altLang="en-US" dirty="0">
                <a:latin typeface="Times New Roman" panose="02020603050405020304" pitchFamily="18" charset="0"/>
                <a:cs typeface="Times New Roman" panose="02020603050405020304" pitchFamily="18" charset="0"/>
              </a:rPr>
              <a:t>Communication method: Wi-Fi using TCP or MQTT.</a:t>
            </a:r>
          </a:p>
          <a:p>
            <a:pPr marL="0" indent="0" eaLnBrk="0" fontAlgn="base" hangingPunct="0">
              <a:lnSpc>
                <a:spcPct val="100000"/>
              </a:lnSpc>
              <a:spcBef>
                <a:spcPct val="0"/>
              </a:spcBef>
              <a:spcAft>
                <a:spcPct val="0"/>
              </a:spcAft>
              <a:buNone/>
            </a:pPr>
            <a:r>
              <a:rPr lang="en-US" altLang="en-US" dirty="0">
                <a:latin typeface="Times New Roman" panose="02020603050405020304" pitchFamily="18" charset="0"/>
                <a:cs typeface="Times New Roman" panose="02020603050405020304" pitchFamily="18" charset="0"/>
              </a:rPr>
              <a:t>The ESP32 transmits sensor readings wirelessly to the Raspberry Pi over a configured Wi-Fi connection.</a:t>
            </a:r>
          </a:p>
          <a:p>
            <a:pPr marL="0" lvl="0" indent="0" eaLnBrk="0" fontAlgn="base" hangingPunct="0">
              <a:lnSpc>
                <a:spcPct val="100000"/>
              </a:lnSpc>
              <a:spcBef>
                <a:spcPct val="0"/>
              </a:spcBef>
              <a:spcAft>
                <a:spcPct val="0"/>
              </a:spcAft>
              <a:buNone/>
            </a:pPr>
            <a:endParaRPr lang="en-US" alt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11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870754118"/>
              </p:ext>
            </p:extLst>
          </p:nvPr>
        </p:nvGraphicFramePr>
        <p:xfrm>
          <a:off x="2105152" y="3545162"/>
          <a:ext cx="8245856" cy="1831510"/>
        </p:xfrm>
        <a:graphic>
          <a:graphicData uri="http://schemas.openxmlformats.org/drawingml/2006/table">
            <a:tbl>
              <a:tblPr firstRow="1" bandRow="1">
                <a:tableStyleId>{5C22544A-7EE6-4342-B048-85BDC9FD1C3A}</a:tableStyleId>
              </a:tblPr>
              <a:tblGrid>
                <a:gridCol w="4122928">
                  <a:extLst>
                    <a:ext uri="{9D8B030D-6E8A-4147-A177-3AD203B41FA5}">
                      <a16:colId xmlns:a16="http://schemas.microsoft.com/office/drawing/2014/main" val="3367920696"/>
                    </a:ext>
                  </a:extLst>
                </a:gridCol>
                <a:gridCol w="4122928">
                  <a:extLst>
                    <a:ext uri="{9D8B030D-6E8A-4147-A177-3AD203B41FA5}">
                      <a16:colId xmlns:a16="http://schemas.microsoft.com/office/drawing/2014/main" val="2186158937"/>
                    </a:ext>
                  </a:extLst>
                </a:gridCol>
              </a:tblGrid>
              <a:tr h="668899">
                <a:tc>
                  <a:txBody>
                    <a:bodyPr/>
                    <a:lstStyle/>
                    <a:p>
                      <a:pPr algn="ctr"/>
                      <a:r>
                        <a:rPr lang="en-US" dirty="0" smtClean="0"/>
                        <a:t>advantage</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disadvantage</a:t>
                      </a:r>
                    </a:p>
                    <a:p>
                      <a:endParaRPr lang="en-US" dirty="0"/>
                    </a:p>
                  </a:txBody>
                  <a:tcPr/>
                </a:tc>
                <a:extLst>
                  <a:ext uri="{0D108BD9-81ED-4DB2-BD59-A6C34878D82A}">
                    <a16:rowId xmlns:a16="http://schemas.microsoft.com/office/drawing/2014/main" val="776289970"/>
                  </a:ext>
                </a:extLst>
              </a:tr>
              <a:tr h="387537">
                <a:tc>
                  <a:txBody>
                    <a:bodyPr/>
                    <a:lstStyle/>
                    <a:p>
                      <a:pPr algn="ctr"/>
                      <a:r>
                        <a:rPr lang="en-US" dirty="0" smtClean="0"/>
                        <a:t>flexible</a:t>
                      </a:r>
                      <a:endParaRPr lang="en-US" dirty="0"/>
                    </a:p>
                  </a:txBody>
                  <a:tcPr/>
                </a:tc>
                <a:tc>
                  <a:txBody>
                    <a:bodyPr/>
                    <a:lstStyle/>
                    <a:p>
                      <a:pPr algn="ctr"/>
                      <a:r>
                        <a:rPr lang="en-US" dirty="0" smtClean="0"/>
                        <a:t>Connection Instability</a:t>
                      </a:r>
                      <a:endParaRPr lang="en-US" dirty="0"/>
                    </a:p>
                  </a:txBody>
                  <a:tcPr/>
                </a:tc>
                <a:extLst>
                  <a:ext uri="{0D108BD9-81ED-4DB2-BD59-A6C34878D82A}">
                    <a16:rowId xmlns:a16="http://schemas.microsoft.com/office/drawing/2014/main" val="1585674870"/>
                  </a:ext>
                </a:extLst>
              </a:tr>
              <a:tr h="387537">
                <a:tc>
                  <a:txBody>
                    <a:bodyPr/>
                    <a:lstStyle/>
                    <a:p>
                      <a:pPr algn="ctr"/>
                      <a:r>
                        <a:rPr lang="en-US" dirty="0" smtClean="0"/>
                        <a:t>No direct communication cable is needed</a:t>
                      </a:r>
                      <a:endParaRPr lang="en-US" dirty="0"/>
                    </a:p>
                  </a:txBody>
                  <a:tcPr/>
                </a:tc>
                <a:tc>
                  <a:txBody>
                    <a:bodyPr/>
                    <a:lstStyle/>
                    <a:p>
                      <a:pPr algn="ctr"/>
                      <a:r>
                        <a:rPr lang="en-US" dirty="0" smtClean="0"/>
                        <a:t>Packet Loss and Delays</a:t>
                      </a:r>
                      <a:endParaRPr lang="en-US" dirty="0"/>
                    </a:p>
                  </a:txBody>
                  <a:tcPr/>
                </a:tc>
                <a:extLst>
                  <a:ext uri="{0D108BD9-81ED-4DB2-BD59-A6C34878D82A}">
                    <a16:rowId xmlns:a16="http://schemas.microsoft.com/office/drawing/2014/main" val="4169936520"/>
                  </a:ext>
                </a:extLst>
              </a:tr>
              <a:tr h="387537">
                <a:tc>
                  <a:txBody>
                    <a:bodyPr/>
                    <a:lstStyle/>
                    <a:p>
                      <a:endParaRPr lang="en-US" dirty="0"/>
                    </a:p>
                  </a:txBody>
                  <a:tcPr/>
                </a:tc>
                <a:tc>
                  <a:txBody>
                    <a:bodyPr/>
                    <a:lstStyle/>
                    <a:p>
                      <a:pPr algn="ctr"/>
                      <a:r>
                        <a:rPr lang="en-US" dirty="0" smtClean="0"/>
                        <a:t>More Complex Configuration</a:t>
                      </a:r>
                      <a:endParaRPr lang="en-US" dirty="0"/>
                    </a:p>
                  </a:txBody>
                  <a:tcPr/>
                </a:tc>
                <a:extLst>
                  <a:ext uri="{0D108BD9-81ED-4DB2-BD59-A6C34878D82A}">
                    <a16:rowId xmlns:a16="http://schemas.microsoft.com/office/drawing/2014/main" val="1064864012"/>
                  </a:ext>
                </a:extLst>
              </a:tr>
            </a:tbl>
          </a:graphicData>
        </a:graphic>
      </p:graphicFrame>
    </p:spTree>
    <p:extLst>
      <p:ext uri="{BB962C8B-B14F-4D97-AF65-F5344CB8AC3E}">
        <p14:creationId xmlns:p14="http://schemas.microsoft.com/office/powerpoint/2010/main" val="2793923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136" y="79404"/>
            <a:ext cx="11273355" cy="6314182"/>
          </a:xfrm>
        </p:spPr>
        <p:txBody>
          <a:bodyPr>
            <a:normAutofit/>
          </a:bodyPr>
          <a:lstStyle/>
          <a:p>
            <a:pPr marL="0" lvl="0" indent="0">
              <a:buNone/>
            </a:pP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0" lvl="0" indent="0">
              <a:buNone/>
            </a:pPr>
            <a:endParaRPr lang="en-US" altLang="en-US" sz="2000" dirty="0" smtClean="0">
              <a:latin typeface="Times New Roman" panose="02020603050405020304" pitchFamily="18" charset="0"/>
              <a:cs typeface="Times New Roman" panose="02020603050405020304" pitchFamily="18" charset="0"/>
            </a:endParaRPr>
          </a:p>
          <a:p>
            <a:pPr marL="0" lv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12</a:t>
            </a:fld>
            <a:endParaRPr lang="en-US"/>
          </a:p>
        </p:txBody>
      </p:sp>
      <p:sp>
        <p:nvSpPr>
          <p:cNvPr id="9" name="Rectangle 4"/>
          <p:cNvSpPr>
            <a:spLocks noChangeArrowheads="1"/>
          </p:cNvSpPr>
          <p:nvPr/>
        </p:nvSpPr>
        <p:spPr bwMode="auto">
          <a:xfrm>
            <a:off x="109728" y="216331"/>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6"/>
          <p:cNvSpPr>
            <a:spLocks noChangeArrowheads="1"/>
          </p:cNvSpPr>
          <p:nvPr/>
        </p:nvSpPr>
        <p:spPr bwMode="auto">
          <a:xfrm>
            <a:off x="0" y="-524333"/>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7"/>
          <p:cNvSpPr>
            <a:spLocks noChangeArrowheads="1"/>
          </p:cNvSpPr>
          <p:nvPr/>
        </p:nvSpPr>
        <p:spPr bwMode="auto">
          <a:xfrm>
            <a:off x="184731"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p:nvPr/>
        </p:nvSpPr>
        <p:spPr>
          <a:xfrm>
            <a:off x="637178" y="512064"/>
            <a:ext cx="10716621" cy="5386090"/>
          </a:xfrm>
          <a:prstGeom prst="rect">
            <a:avLst/>
          </a:prstGeom>
        </p:spPr>
        <p:txBody>
          <a:bodyPr wrap="square">
            <a:spAutoFit/>
          </a:bodyPr>
          <a:lstStyle/>
          <a:p>
            <a:pPr marL="342900" indent="-342900">
              <a:buFont typeface="Wingdings" panose="05000000000000000000" pitchFamily="2" charset="2"/>
              <a:buChar char="q"/>
            </a:pPr>
            <a:r>
              <a:rPr lang="en-US" sz="3200" b="1" dirty="0">
                <a:cs typeface="+mj-cs"/>
              </a:rPr>
              <a:t>Models and Algorithms Used on the Raspberry Pi</a:t>
            </a:r>
            <a:endParaRPr lang="ar-SY" sz="3200" b="1" dirty="0">
              <a:cs typeface="+mj-cs"/>
            </a:endParaRPr>
          </a:p>
          <a:p>
            <a:pPr marL="285750" indent="-285750">
              <a:buFont typeface="Arial" panose="020B0604020202020204" pitchFamily="34" charset="0"/>
              <a:buChar char="•"/>
            </a:pPr>
            <a:r>
              <a:rPr lang="en-US" sz="2400" dirty="0">
                <a:cs typeface="+mj-cs"/>
              </a:rPr>
              <a:t>Object Detection Models</a:t>
            </a:r>
            <a:endParaRPr lang="ar-SY" sz="2400" b="1" dirty="0" smtClean="0">
              <a:cs typeface="+mj-cs"/>
            </a:endParaRPr>
          </a:p>
          <a:p>
            <a:pPr marL="285750" indent="-285750">
              <a:buFont typeface="Arial" panose="020B0604020202020204" pitchFamily="34" charset="0"/>
              <a:buChar char="•"/>
            </a:pPr>
            <a:r>
              <a:rPr lang="en-US" b="1" dirty="0" smtClean="0">
                <a:cs typeface="+mj-cs"/>
              </a:rPr>
              <a:t>YOLO </a:t>
            </a:r>
            <a:r>
              <a:rPr lang="en-US" b="1" dirty="0">
                <a:cs typeface="+mj-cs"/>
              </a:rPr>
              <a:t>(You Only Look Once)</a:t>
            </a:r>
          </a:p>
          <a:p>
            <a:r>
              <a:rPr lang="en-US" dirty="0">
                <a:cs typeface="+mj-cs"/>
              </a:rPr>
              <a:t>Detects vehicles and pedestrians in individual video frames.</a:t>
            </a:r>
          </a:p>
          <a:p>
            <a:r>
              <a:rPr lang="en-US" dirty="0">
                <a:cs typeface="+mj-cs"/>
              </a:rPr>
              <a:t>Provides bounding boxes, object classes, and confidence scores.</a:t>
            </a:r>
          </a:p>
          <a:p>
            <a:r>
              <a:rPr lang="en-US" dirty="0">
                <a:cs typeface="+mj-cs"/>
              </a:rPr>
              <a:t>Lightweight versions can be deployed on Raspberry Pi.</a:t>
            </a:r>
          </a:p>
          <a:p>
            <a:r>
              <a:rPr lang="en-US" dirty="0">
                <a:cs typeface="+mj-cs"/>
              </a:rPr>
              <a:t>Advantages: Fast inference and a good balance between speed and accuracy.</a:t>
            </a:r>
          </a:p>
          <a:p>
            <a:r>
              <a:rPr lang="en-US" dirty="0">
                <a:cs typeface="+mj-cs"/>
              </a:rPr>
              <a:t>Limitations: Performance depends on lighting, camera quality, object size, and processing power.</a:t>
            </a:r>
          </a:p>
          <a:p>
            <a:pPr marL="285750" indent="-285750">
              <a:buFont typeface="Arial" panose="020B0604020202020204" pitchFamily="34" charset="0"/>
              <a:buChar char="•"/>
            </a:pPr>
            <a:r>
              <a:rPr lang="en-US" b="1" dirty="0">
                <a:cs typeface="+mj-cs"/>
              </a:rPr>
              <a:t>SSD </a:t>
            </a:r>
            <a:r>
              <a:rPr lang="en-US" b="1" dirty="0" smtClean="0">
                <a:cs typeface="+mj-cs"/>
              </a:rPr>
              <a:t>(Single </a:t>
            </a:r>
            <a:r>
              <a:rPr lang="en-US" b="1" dirty="0">
                <a:cs typeface="+mj-cs"/>
              </a:rPr>
              <a:t>Shot Detector)</a:t>
            </a:r>
          </a:p>
          <a:p>
            <a:r>
              <a:rPr lang="en-US" dirty="0">
                <a:cs typeface="+mj-cs"/>
              </a:rPr>
              <a:t>Detects objects in a single forward pass.</a:t>
            </a:r>
          </a:p>
          <a:p>
            <a:r>
              <a:rPr lang="en-US" dirty="0">
                <a:cs typeface="+mj-cs"/>
              </a:rPr>
              <a:t>Designed for efficient inference on resource-constrained devices.</a:t>
            </a:r>
          </a:p>
          <a:p>
            <a:r>
              <a:rPr lang="en-US" dirty="0">
                <a:cs typeface="+mj-cs"/>
              </a:rPr>
              <a:t>Advantages: Lightweight and suitable for embedded computer vision.</a:t>
            </a:r>
          </a:p>
          <a:p>
            <a:r>
              <a:rPr lang="en-US" dirty="0">
                <a:cs typeface="+mj-cs"/>
              </a:rPr>
              <a:t>Limitations: Accuracy can be lower than that of larger or better-optimized models in difficult scenes.</a:t>
            </a:r>
          </a:p>
          <a:p>
            <a:pPr marL="285750" indent="-285750">
              <a:buFont typeface="Arial" panose="020B0604020202020204" pitchFamily="34" charset="0"/>
              <a:buChar char="•"/>
            </a:pPr>
            <a:r>
              <a:rPr lang="en-US" b="1" dirty="0">
                <a:cs typeface="+mj-cs"/>
              </a:rPr>
              <a:t>Faster R-CNN</a:t>
            </a:r>
          </a:p>
          <a:p>
            <a:r>
              <a:rPr lang="en-US" dirty="0">
                <a:cs typeface="+mj-cs"/>
              </a:rPr>
              <a:t>Uses a two-stage detection process to propose regions and classify objects.</a:t>
            </a:r>
          </a:p>
          <a:p>
            <a:r>
              <a:rPr lang="en-US" dirty="0">
                <a:cs typeface="+mj-cs"/>
              </a:rPr>
              <a:t>Advantages: Can provide strong detection accuracy.</a:t>
            </a:r>
          </a:p>
          <a:p>
            <a:r>
              <a:rPr lang="en-US" dirty="0">
                <a:cs typeface="+mj-cs"/>
              </a:rPr>
              <a:t>Limitations: Generally more computationally demanding, making real-time deployment on a Raspberry Pi more challenging.</a:t>
            </a:r>
          </a:p>
        </p:txBody>
      </p:sp>
    </p:spTree>
    <p:extLst>
      <p:ext uri="{BB962C8B-B14F-4D97-AF65-F5344CB8AC3E}">
        <p14:creationId xmlns:p14="http://schemas.microsoft.com/office/powerpoint/2010/main" val="18268116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2857"/>
            <a:ext cx="10515600" cy="4351338"/>
          </a:xfrm>
        </p:spPr>
        <p:txBody>
          <a:bodyPr/>
          <a:lstStyle/>
          <a:p>
            <a:r>
              <a:rPr lang="en-US" dirty="0"/>
              <a:t>Object Tracking </a:t>
            </a:r>
            <a:r>
              <a:rPr lang="en-US" dirty="0" smtClean="0"/>
              <a:t>Algorithms</a:t>
            </a:r>
            <a:endParaRPr lang="ar-SY"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33896C7E-A916-41EB-B46D-FD73DBAC0E04}" type="slidenum">
              <a:rPr lang="en-US" smtClean="0"/>
              <a:t>13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706512760"/>
              </p:ext>
            </p:extLst>
          </p:nvPr>
        </p:nvGraphicFramePr>
        <p:xfrm>
          <a:off x="1408272" y="1495665"/>
          <a:ext cx="10425081" cy="4353699"/>
        </p:xfrm>
        <a:graphic>
          <a:graphicData uri="http://schemas.openxmlformats.org/drawingml/2006/table">
            <a:tbl>
              <a:tblPr/>
              <a:tblGrid>
                <a:gridCol w="3475027">
                  <a:extLst>
                    <a:ext uri="{9D8B030D-6E8A-4147-A177-3AD203B41FA5}">
                      <a16:colId xmlns:a16="http://schemas.microsoft.com/office/drawing/2014/main" val="4000633579"/>
                    </a:ext>
                  </a:extLst>
                </a:gridCol>
                <a:gridCol w="3475027">
                  <a:extLst>
                    <a:ext uri="{9D8B030D-6E8A-4147-A177-3AD203B41FA5}">
                      <a16:colId xmlns:a16="http://schemas.microsoft.com/office/drawing/2014/main" val="4192937311"/>
                    </a:ext>
                  </a:extLst>
                </a:gridCol>
                <a:gridCol w="3475027">
                  <a:extLst>
                    <a:ext uri="{9D8B030D-6E8A-4147-A177-3AD203B41FA5}">
                      <a16:colId xmlns:a16="http://schemas.microsoft.com/office/drawing/2014/main" val="1663530871"/>
                    </a:ext>
                  </a:extLst>
                </a:gridCol>
              </a:tblGrid>
              <a:tr h="362611">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629191417"/>
                  </a:ext>
                </a:extLst>
              </a:tr>
              <a:tr h="634570">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4043395955"/>
                  </a:ext>
                </a:extLst>
              </a:tr>
              <a:tr h="634570">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209803077"/>
                  </a:ext>
                </a:extLst>
              </a:tr>
              <a:tr h="906529">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1412614949"/>
                  </a:ext>
                </a:extLst>
              </a:tr>
              <a:tr h="906529">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813274791"/>
                  </a:ext>
                </a:extLst>
              </a:tr>
              <a:tr h="906529">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tc>
                  <a:txBody>
                    <a:bodyPr/>
                    <a:lstStyle/>
                    <a:p>
                      <a:pPr algn="l" rtl="1"/>
                      <a:endParaRPr lang="en-US" sz="1800" dirty="0"/>
                    </a:p>
                  </a:txBody>
                  <a:tcPr marL="90653" marR="90653" marT="45326" marB="45326" anchor="ctr">
                    <a:lnL>
                      <a:noFill/>
                    </a:lnL>
                    <a:lnR>
                      <a:noFill/>
                    </a:lnR>
                    <a:lnT>
                      <a:noFill/>
                    </a:lnT>
                    <a:lnB>
                      <a:noFill/>
                    </a:lnB>
                  </a:tcPr>
                </a:tc>
                <a:extLst>
                  <a:ext uri="{0D108BD9-81ED-4DB2-BD59-A6C34878D82A}">
                    <a16:rowId xmlns:a16="http://schemas.microsoft.com/office/drawing/2014/main" val="260855891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12241374"/>
              </p:ext>
            </p:extLst>
          </p:nvPr>
        </p:nvGraphicFramePr>
        <p:xfrm>
          <a:off x="358647" y="665555"/>
          <a:ext cx="10881360" cy="6088596"/>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557388707"/>
                    </a:ext>
                  </a:extLst>
                </a:gridCol>
                <a:gridCol w="3627120">
                  <a:extLst>
                    <a:ext uri="{9D8B030D-6E8A-4147-A177-3AD203B41FA5}">
                      <a16:colId xmlns:a16="http://schemas.microsoft.com/office/drawing/2014/main" val="3517373184"/>
                    </a:ext>
                  </a:extLst>
                </a:gridCol>
                <a:gridCol w="3627120">
                  <a:extLst>
                    <a:ext uri="{9D8B030D-6E8A-4147-A177-3AD203B41FA5}">
                      <a16:colId xmlns:a16="http://schemas.microsoft.com/office/drawing/2014/main" val="3942881292"/>
                    </a:ext>
                  </a:extLst>
                </a:gridCol>
              </a:tblGrid>
              <a:tr h="598932">
                <a:tc>
                  <a:txBody>
                    <a:bodyPr/>
                    <a:lstStyle/>
                    <a:p>
                      <a:pPr algn="ctr"/>
                      <a:r>
                        <a:rPr lang="en-US" sz="1800" dirty="0" smtClean="0"/>
                        <a:t>Algorithm</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Main characteristics</a:t>
                      </a:r>
                    </a:p>
                    <a:p>
                      <a:pPr algn="ctr"/>
                      <a:endParaRPr lang="en-US" dirty="0"/>
                    </a:p>
                  </a:txBody>
                  <a:tcPr/>
                </a:tc>
                <a:tc>
                  <a:txBody>
                    <a:bodyPr/>
                    <a:lstStyle/>
                    <a:p>
                      <a:pPr algn="ctr"/>
                      <a:r>
                        <a:rPr lang="en-US" sz="1800" dirty="0" smtClean="0"/>
                        <a:t>Limitations</a:t>
                      </a:r>
                      <a:endParaRPr lang="en-US" dirty="0"/>
                    </a:p>
                  </a:txBody>
                  <a:tcPr/>
                </a:tc>
                <a:extLst>
                  <a:ext uri="{0D108BD9-81ED-4DB2-BD59-A6C34878D82A}">
                    <a16:rowId xmlns:a16="http://schemas.microsoft.com/office/drawing/2014/main" val="2700436822"/>
                  </a:ext>
                </a:extLst>
              </a:tr>
              <a:tr h="932590">
                <a:tc>
                  <a:txBody>
                    <a:bodyPr/>
                    <a:lstStyle/>
                    <a:p>
                      <a:pPr algn="ctr"/>
                      <a:r>
                        <a:rPr lang="en-US" sz="1800" dirty="0" smtClean="0"/>
                        <a:t>SORT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Simple, fast tracking based mainly on motion and object association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Can switch object IDs during occlusion</a:t>
                      </a:r>
                    </a:p>
                  </a:txBody>
                  <a:tcPr/>
                </a:tc>
                <a:extLst>
                  <a:ext uri="{0D108BD9-81ED-4DB2-BD59-A6C34878D82A}">
                    <a16:rowId xmlns:a16="http://schemas.microsoft.com/office/drawing/2014/main" val="2706697906"/>
                  </a:ext>
                </a:extLst>
              </a:tr>
              <a:tr h="9325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smtClean="0"/>
                        <a:t>DeepSORT</a:t>
                      </a:r>
                      <a:endParaRPr lang="en-US" sz="18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Combines motion with visual appearance features</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Requires additional computation for appearance extraction</a:t>
                      </a:r>
                    </a:p>
                  </a:txBody>
                  <a:tcPr/>
                </a:tc>
                <a:extLst>
                  <a:ext uri="{0D108BD9-81ED-4DB2-BD59-A6C34878D82A}">
                    <a16:rowId xmlns:a16="http://schemas.microsoft.com/office/drawing/2014/main" val="3392350404"/>
                  </a:ext>
                </a:extLst>
              </a:tr>
              <a:tr h="11123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smtClean="0"/>
                        <a:t>ByteTrack</a:t>
                      </a:r>
                      <a:endParaRPr lang="en-US" sz="1800" dirty="0" smtClean="0"/>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Associates detections using high- and low-confidence detection results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Does not use appearance-based re-identification by default</a:t>
                      </a:r>
                    </a:p>
                  </a:txBody>
                  <a:tcPr/>
                </a:tc>
                <a:extLst>
                  <a:ext uri="{0D108BD9-81ED-4DB2-BD59-A6C34878D82A}">
                    <a16:rowId xmlns:a16="http://schemas.microsoft.com/office/drawing/2014/main" val="2301043990"/>
                  </a:ext>
                </a:extLst>
              </a:tr>
              <a:tr h="1112303">
                <a:tc>
                  <a:txBody>
                    <a:bodyPr/>
                    <a:lstStyle/>
                    <a:p>
                      <a:pPr algn="ctr"/>
                      <a:r>
                        <a:rPr lang="en-US" sz="1800" dirty="0" smtClean="0"/>
                        <a:t>OC-SORT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Uses observations to improve tracking under nonlinear motion and occlusion</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Tracking can still fail when objects remain hidden for long periods</a:t>
                      </a:r>
                    </a:p>
                  </a:txBody>
                  <a:tcPr/>
                </a:tc>
                <a:extLst>
                  <a:ext uri="{0D108BD9-81ED-4DB2-BD59-A6C34878D82A}">
                    <a16:rowId xmlns:a16="http://schemas.microsoft.com/office/drawing/2014/main" val="3506004097"/>
                  </a:ext>
                </a:extLst>
              </a:tr>
              <a:tr h="1282313">
                <a:tc>
                  <a:txBody>
                    <a:bodyPr/>
                    <a:lstStyle/>
                    <a:p>
                      <a:pPr algn="ctr"/>
                      <a:r>
                        <a:rPr lang="en-US" sz="1800" dirty="0" err="1" smtClean="0"/>
                        <a:t>BoT</a:t>
                      </a:r>
                      <a:r>
                        <a:rPr lang="en-US" sz="1800" dirty="0" smtClean="0"/>
                        <a:t>-SORT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Combines motion, optional appearance features, and camera-motion compensation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More configuration and computation may be required</a:t>
                      </a:r>
                    </a:p>
                  </a:txBody>
                  <a:tcPr/>
                </a:tc>
                <a:extLst>
                  <a:ext uri="{0D108BD9-81ED-4DB2-BD59-A6C34878D82A}">
                    <a16:rowId xmlns:a16="http://schemas.microsoft.com/office/drawing/2014/main" val="2231437898"/>
                  </a:ext>
                </a:extLst>
              </a:tr>
            </a:tbl>
          </a:graphicData>
        </a:graphic>
      </p:graphicFrame>
    </p:spTree>
    <p:extLst>
      <p:ext uri="{BB962C8B-B14F-4D97-AF65-F5344CB8AC3E}">
        <p14:creationId xmlns:p14="http://schemas.microsoft.com/office/powerpoint/2010/main" val="28183704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274320"/>
            <a:ext cx="10994136" cy="6082029"/>
          </a:xfrm>
        </p:spPr>
        <p:txBody>
          <a:bodyPr>
            <a:normAutofit fontScale="85000" lnSpcReduction="20000"/>
          </a:bodyPr>
          <a:lstStyle/>
          <a:p>
            <a:r>
              <a:rPr lang="en-US" sz="3600" b="1" dirty="0"/>
              <a:t>Near-Miss Detection Algorithms</a:t>
            </a:r>
            <a:endParaRPr lang="ar-SY" sz="3600" b="1" dirty="0"/>
          </a:p>
          <a:p>
            <a:pPr>
              <a:buFont typeface="Wingdings" panose="05000000000000000000" pitchFamily="2" charset="2"/>
              <a:buChar char="v"/>
            </a:pPr>
            <a:r>
              <a:rPr lang="en-US" b="1" dirty="0">
                <a:cs typeface="+mj-cs"/>
              </a:rPr>
              <a:t>Rule-Based Detection</a:t>
            </a:r>
          </a:p>
          <a:p>
            <a:pPr>
              <a:buFont typeface="Wingdings" panose="05000000000000000000" pitchFamily="2" charset="2"/>
              <a:buChar char="Ø"/>
            </a:pPr>
            <a:r>
              <a:rPr lang="en-US" dirty="0">
                <a:cs typeface="+mj-cs"/>
              </a:rPr>
              <a:t>Combines predefined conditions, such as a vehicle entering the monitored path and a sudden deceleration event.</a:t>
            </a:r>
          </a:p>
          <a:p>
            <a:pPr>
              <a:buFont typeface="Wingdings" panose="05000000000000000000" pitchFamily="2" charset="2"/>
              <a:buChar char="Ø"/>
            </a:pPr>
            <a:r>
              <a:rPr lang="en-US" dirty="0">
                <a:cs typeface="+mj-cs"/>
              </a:rPr>
              <a:t>Easy to implement, explain, and test.</a:t>
            </a:r>
          </a:p>
          <a:p>
            <a:pPr>
              <a:buFont typeface="Wingdings" panose="05000000000000000000" pitchFamily="2" charset="2"/>
              <a:buChar char="v"/>
            </a:pPr>
            <a:r>
              <a:rPr lang="en-US" b="1" dirty="0" smtClean="0">
                <a:cs typeface="+mj-cs"/>
              </a:rPr>
              <a:t>Time </a:t>
            </a:r>
            <a:r>
              <a:rPr lang="en-US" b="1" dirty="0">
                <a:cs typeface="+mj-cs"/>
              </a:rPr>
              <a:t>to Collision (TTC)</a:t>
            </a:r>
          </a:p>
          <a:p>
            <a:pPr>
              <a:buFont typeface="Wingdings" panose="05000000000000000000" pitchFamily="2" charset="2"/>
              <a:buChar char="Ø"/>
            </a:pPr>
            <a:r>
              <a:rPr lang="en-US" dirty="0">
                <a:cs typeface="+mj-cs"/>
              </a:rPr>
              <a:t>Estimates the remaining time before a potential collision if the interacting road users continue along their current trajectories and speeds.</a:t>
            </a:r>
          </a:p>
          <a:p>
            <a:pPr>
              <a:buFont typeface="Wingdings" panose="05000000000000000000" pitchFamily="2" charset="2"/>
              <a:buChar char="Ø"/>
            </a:pPr>
            <a:r>
              <a:rPr lang="en-US" dirty="0">
                <a:cs typeface="+mj-cs"/>
              </a:rPr>
              <a:t>Helps identify potentially critical interactions.</a:t>
            </a:r>
          </a:p>
          <a:p>
            <a:pPr>
              <a:buFont typeface="Wingdings" panose="05000000000000000000" pitchFamily="2" charset="2"/>
              <a:buChar char="Ø"/>
            </a:pPr>
            <a:r>
              <a:rPr lang="en-US" b="1" dirty="0" smtClean="0">
                <a:cs typeface="+mj-cs"/>
              </a:rPr>
              <a:t>Post-Encroachment </a:t>
            </a:r>
            <a:r>
              <a:rPr lang="en-US" b="1" dirty="0">
                <a:cs typeface="+mj-cs"/>
              </a:rPr>
              <a:t>Time (PET)</a:t>
            </a:r>
          </a:p>
          <a:p>
            <a:pPr>
              <a:buFont typeface="Wingdings" panose="05000000000000000000" pitchFamily="2" charset="2"/>
              <a:buChar char="Ø"/>
            </a:pPr>
            <a:r>
              <a:rPr lang="en-US" dirty="0">
                <a:cs typeface="+mj-cs"/>
              </a:rPr>
              <a:t>Measures the time between one road user leaving a potential conflict area and another road user reaching that area.</a:t>
            </a:r>
          </a:p>
          <a:p>
            <a:pPr>
              <a:buFont typeface="Wingdings" panose="05000000000000000000" pitchFamily="2" charset="2"/>
              <a:buChar char="v"/>
            </a:pPr>
            <a:r>
              <a:rPr lang="en-US" b="1" dirty="0" smtClean="0">
                <a:cs typeface="+mj-cs"/>
              </a:rPr>
              <a:t>Random </a:t>
            </a:r>
            <a:r>
              <a:rPr lang="en-US" b="1" dirty="0">
                <a:cs typeface="+mj-cs"/>
              </a:rPr>
              <a:t>Forest and LSTM</a:t>
            </a:r>
          </a:p>
          <a:p>
            <a:pPr>
              <a:buFont typeface="Wingdings" panose="05000000000000000000" pitchFamily="2" charset="2"/>
              <a:buChar char="Ø"/>
            </a:pPr>
            <a:r>
              <a:rPr lang="en-US" dirty="0">
                <a:cs typeface="+mj-cs"/>
              </a:rPr>
              <a:t>Machine-learning approaches that could classify events using sensor readings and temporal features.</a:t>
            </a:r>
          </a:p>
          <a:p>
            <a:pPr>
              <a:buFont typeface="Wingdings" panose="05000000000000000000" pitchFamily="2" charset="2"/>
              <a:buChar char="Ø"/>
            </a:pPr>
            <a:r>
              <a:rPr lang="en-US" dirty="0" smtClean="0">
                <a:cs typeface="+mj-cs"/>
              </a:rPr>
              <a:t>LSTM</a:t>
            </a:r>
            <a:r>
              <a:rPr lang="en-US" dirty="0">
                <a:cs typeface="+mj-cs"/>
              </a:rPr>
              <a:t>: designed to learn patterns from sequences over time.</a:t>
            </a:r>
          </a:p>
          <a:p>
            <a:pPr marL="0" indent="0">
              <a:buNone/>
            </a:pPr>
            <a:endParaRPr lang="en-US" dirty="0">
              <a:cs typeface="+mj-cs"/>
            </a:endParaRPr>
          </a:p>
        </p:txBody>
      </p:sp>
      <p:sp>
        <p:nvSpPr>
          <p:cNvPr id="4" name="Slide Number Placeholder 3"/>
          <p:cNvSpPr>
            <a:spLocks noGrp="1"/>
          </p:cNvSpPr>
          <p:nvPr>
            <p:ph type="sldNum" sz="quarter" idx="12"/>
          </p:nvPr>
        </p:nvSpPr>
        <p:spPr/>
        <p:txBody>
          <a:bodyPr/>
          <a:lstStyle/>
          <a:p>
            <a:fld id="{33896C7E-A916-41EB-B46D-FD73DBAC0E04}" type="slidenum">
              <a:rPr lang="en-US" smtClean="0"/>
              <a:t>14</a:t>
            </a:fld>
            <a:endParaRPr lang="en-US"/>
          </a:p>
        </p:txBody>
      </p:sp>
    </p:spTree>
    <p:extLst>
      <p:ext uri="{BB962C8B-B14F-4D97-AF65-F5344CB8AC3E}">
        <p14:creationId xmlns:p14="http://schemas.microsoft.com/office/powerpoint/2010/main" val="15996371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598"/>
            <a:ext cx="10515600" cy="1325563"/>
          </a:xfrm>
        </p:spPr>
        <p:txBody>
          <a:bodyPr>
            <a:normAutofit/>
          </a:bodyPr>
          <a:lstStyle/>
          <a:p>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Reference </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LIST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3212719"/>
          </a:xfrm>
        </p:spPr>
        <p:txBody>
          <a:bodyPr>
            <a:normAutofit/>
          </a:bodyPr>
          <a:lstStyle/>
          <a:p>
            <a:pPr>
              <a:lnSpc>
                <a:spcPct val="150000"/>
              </a:lnSpc>
            </a:pPr>
            <a:r>
              <a:rPr lang="en-US" dirty="0" smtClean="0"/>
              <a:t>[1] </a:t>
            </a:r>
            <a:r>
              <a:rPr lang="en-US" dirty="0" err="1"/>
              <a:t>Ultralytics</a:t>
            </a:r>
            <a:r>
              <a:rPr lang="en-US" dirty="0"/>
              <a:t>, YOLO26 on Raspberry Pi Setup &amp; </a:t>
            </a:r>
            <a:r>
              <a:rPr lang="en-US" dirty="0" smtClean="0"/>
              <a:t>Benchmarks</a:t>
            </a:r>
          </a:p>
          <a:p>
            <a:pPr>
              <a:lnSpc>
                <a:spcPct val="150000"/>
              </a:lnSpc>
            </a:pPr>
            <a:r>
              <a:rPr lang="en-US" dirty="0" smtClean="0"/>
              <a:t>[2</a:t>
            </a:r>
            <a:r>
              <a:rPr lang="en-US" dirty="0" smtClean="0"/>
              <a:t>] </a:t>
            </a:r>
            <a:r>
              <a:rPr lang="en-US" dirty="0" err="1"/>
              <a:t>Ultralytics</a:t>
            </a:r>
            <a:r>
              <a:rPr lang="en-US" dirty="0"/>
              <a:t>, Multi-Object </a:t>
            </a:r>
            <a:r>
              <a:rPr lang="en-US" dirty="0" smtClean="0"/>
              <a:t>Tracking</a:t>
            </a:r>
          </a:p>
          <a:p>
            <a:r>
              <a:rPr lang="en-US" dirty="0" smtClean="0"/>
              <a:t>[3]</a:t>
            </a:r>
            <a:r>
              <a:rPr lang="en-US" dirty="0"/>
              <a:t> Raspberry Pi Ltd., Raspberry Pi Documentation</a:t>
            </a:r>
            <a:endParaRPr lang="en-US" dirty="0"/>
          </a:p>
          <a:p>
            <a:pPr>
              <a:lnSpc>
                <a:spcPct val="150000"/>
              </a:lnSpc>
            </a:pPr>
            <a:endParaRPr lang="en-US" dirty="0"/>
          </a:p>
        </p:txBody>
      </p:sp>
      <p:sp>
        <p:nvSpPr>
          <p:cNvPr id="4" name="Slide Number Placeholder 3"/>
          <p:cNvSpPr>
            <a:spLocks noGrp="1"/>
          </p:cNvSpPr>
          <p:nvPr>
            <p:ph type="sldNum" sz="quarter" idx="12"/>
          </p:nvPr>
        </p:nvSpPr>
        <p:spPr/>
        <p:txBody>
          <a:bodyPr/>
          <a:lstStyle/>
          <a:p>
            <a:fld id="{33896C7E-A916-41EB-B46D-FD73DBAC0E04}" type="slidenum">
              <a:rPr lang="en-US" smtClean="0"/>
              <a:t>15</a:t>
            </a:fld>
            <a:endParaRPr lang="en-US"/>
          </a:p>
        </p:txBody>
      </p:sp>
    </p:spTree>
    <p:extLst>
      <p:ext uri="{BB962C8B-B14F-4D97-AF65-F5344CB8AC3E}">
        <p14:creationId xmlns:p14="http://schemas.microsoft.com/office/powerpoint/2010/main" val="31712664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5790</TotalTime>
  <Words>957</Words>
  <Application>Microsoft Office PowerPoint</Application>
  <PresentationFormat>Widescreen</PresentationFormat>
  <Paragraphs>155</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Almarai</vt:lpstr>
      <vt:lpstr>Arial</vt:lpstr>
      <vt:lpstr>Calibri</vt:lpstr>
      <vt:lpstr>Calibri Light</vt:lpstr>
      <vt:lpstr>Century Gothic</vt:lpstr>
      <vt:lpstr>Simplified Arabic</vt:lpstr>
      <vt:lpstr>Tahoma</vt:lpstr>
      <vt:lpstr>Times New Roman</vt:lpstr>
      <vt:lpstr>Tw Cen MT</vt:lpstr>
      <vt:lpstr>Wingdings</vt:lpstr>
      <vt:lpstr>Office Theme</vt:lpstr>
      <vt:lpstr> Design of Wireless Black Box for Cars </vt:lpstr>
      <vt:lpstr>Outline </vt:lpstr>
      <vt:lpstr> Project Objective </vt:lpstr>
      <vt:lpstr>Problem Statement &amp; project Importance  </vt:lpstr>
      <vt:lpstr>Recent seminar </vt:lpstr>
      <vt:lpstr>Methodology</vt:lpstr>
      <vt:lpstr>PowerPoint Presentation</vt:lpstr>
      <vt:lpstr>PowerPoint Presentation</vt:lpstr>
      <vt:lpstr>Theoretical Fundamental</vt:lpstr>
      <vt:lpstr>PowerPoint Presentation</vt:lpstr>
      <vt:lpstr>PowerPoint Presentation</vt:lpstr>
      <vt:lpstr>PowerPoint Presentation</vt:lpstr>
      <vt:lpstr>PowerPoint Presentation</vt:lpstr>
      <vt:lpstr>PowerPoint Presentation</vt:lpstr>
      <vt:lpstr>Reference LIST</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Wireless Black Box for Cars w</dc:title>
  <dc:creator>Maher Fattouh</dc:creator>
  <cp:lastModifiedBy>Maher Fattouh</cp:lastModifiedBy>
  <cp:revision>145</cp:revision>
  <dcterms:created xsi:type="dcterms:W3CDTF">2025-12-17T11:05:55Z</dcterms:created>
  <dcterms:modified xsi:type="dcterms:W3CDTF">2026-10-27T15:47:33Z</dcterms:modified>
</cp:coreProperties>
</file>