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HEIC" ContentType="image/png"/>
  <Default Extension="wdp" ContentType="image/vnd.ms-photo"/>
  <Default Extension="jp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71" r:id="rId7"/>
    <p:sldId id="269" r:id="rId8"/>
    <p:sldId id="287" r:id="rId9"/>
    <p:sldId id="286" r:id="rId10"/>
    <p:sldId id="295" r:id="rId11"/>
    <p:sldId id="281" r:id="rId12"/>
    <p:sldId id="282" r:id="rId13"/>
    <p:sldId id="285" r:id="rId14"/>
    <p:sldId id="283" r:id="rId15"/>
    <p:sldId id="261" r:id="rId16"/>
    <p:sldId id="262" r:id="rId17"/>
    <p:sldId id="263" r:id="rId18"/>
    <p:sldId id="290" r:id="rId19"/>
    <p:sldId id="291" r:id="rId20"/>
    <p:sldId id="292" r:id="rId21"/>
    <p:sldId id="293" r:id="rId22"/>
    <p:sldId id="288" r:id="rId23"/>
    <p:sldId id="296" r:id="rId24"/>
    <p:sldId id="297" r:id="rId25"/>
    <p:sldId id="298" r:id="rId26"/>
    <p:sldId id="299" r:id="rId27"/>
    <p:sldId id="300" r:id="rId28"/>
    <p:sldId id="301" r:id="rId29"/>
    <p:sldId id="29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4660"/>
  </p:normalViewPr>
  <p:slideViewPr>
    <p:cSldViewPr snapToGrid="0">
      <p:cViewPr>
        <p:scale>
          <a:sx n="75" d="100"/>
          <a:sy n="75" d="100"/>
        </p:scale>
        <p:origin x="1210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0888-55CD-4AE7-BF95-FC112792704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A8BA8C-5DE9-48D7-A4A2-6A556D83CF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EC892-9AD7-4F87-B73D-BC5311D03528}" type="datetime1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1</a:t>
            </a:r>
          </a:p>
          <a:p>
            <a:r>
              <a:rPr lang="en-US" smtClean="0"/>
              <a:t>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303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3CFF8-0BD7-4342-A5A7-6A96FFB7F954}" type="datetime1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672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C47657-C36E-479E-96AE-A1F0B48A8952}" type="datetime1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927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B189F-F660-45A5-9247-B8A5D5B6B469}" type="datetime1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33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00A00-75CD-4864-8F65-A9A7166F84F3}" type="datetime1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54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47A17-ED99-4576-8AE4-C906CA7C9D0E}" type="datetime1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73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58558-E7F5-4BED-8B34-3E98C2C3ED36}" type="datetime1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254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433D6-4BEC-42D6-9AD2-7C8EE2896516}" type="datetime1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058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EF813-2B2E-4B0B-BF64-1CCCF0D9B01A}" type="datetime1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432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CF6F7F-EA50-4883-ABC4-7CAB5C56855C}" type="datetime1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794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38DA7-B9DB-4A54-900A-76E9C36E3E2E}" type="datetime1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55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0117F4-A2F4-4CB6-A05D-8EBFF496FB3B}" type="datetime1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896C7E-A916-41EB-B46D-FD73DBAC0E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41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oogle.com/search?q=Motion+Processing+Unit&amp;sca_esv=956cfa4b1fae8095&amp;ei=hcVFacnXLpOI7NYP_c3EoQ0&amp;ved=2ahUKEwi2iomOzsqRAxX7SfEDHS-XAhkQgK4QegQIARAB&amp;uact=5&amp;oq=MPU5060+abbreviation&amp;gs_lp=Egxnd3Mtd2l6LXNlcnAiFE1QVTUwNjAgYWJicmV2aWF0aW9uMgUQABjvBTIFEAAY7wUyBRAAGO8FMgUQABjvBUjmGlC8DViuFHABeAGQAQCYAYECoAG0BqoBBTAuMi4yuAEDyAEA-AEBmAIDoAL6AsICChAAGLADGNYEGEfCAgoQIRigARjDBBgKmAMAiAYBkAYIkgcDMS4yoAffCrIHAzAuMrgH9wLCBwUwLjEuMsgHDYAIAA&amp;sclient=gws-wiz-serp&amp;mstk=AUtExfBNs0YH1bhp_BBBO3nmXfWVOmoh2vI_MVtH86FOgmc8y9iLvKUmlleBmxMpc_fC1AB6H0yNPeuI4FjWM9IVO-tC9rPH0Rt_XHS_BAmyR1Ur_VdKGgHuLDrWTypnQ29IZhK3wGZktCb73QGNqFtGlq16U-bL00C2T_xobn-JdYUa1YkhQ4x93cVO0zKoCux9Mt6WPXNMZ1qbfdaFgYDMLTIlng&amp;csui=3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HEIC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simcom.e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73054" y="342159"/>
            <a:ext cx="9144000" cy="2245360"/>
          </a:xfrm>
        </p:spPr>
        <p:txBody>
          <a:bodyPr>
            <a:normAutofit/>
          </a:bodyPr>
          <a:lstStyle/>
          <a:p>
            <a:r>
              <a:rPr lang="en-US" sz="3200" b="1" dirty="0" smtClean="0">
                <a:latin typeface="Times New Roman" panose="02020603050405020304" pitchFamily="18" charset="0"/>
              </a:rPr>
              <a:t/>
            </a:r>
            <a:br>
              <a:rPr lang="en-US" sz="3200" b="1" dirty="0" smtClean="0">
                <a:latin typeface="Times New Roman" panose="02020603050405020304" pitchFamily="18" charset="0"/>
              </a:rPr>
            </a:br>
            <a:r>
              <a:rPr lang="en-US" sz="3200" b="1" dirty="0" smtClean="0">
                <a:latin typeface="Times New Roman" panose="02020603050405020304" pitchFamily="18" charset="0"/>
              </a:rPr>
              <a:t>Design of </a:t>
            </a:r>
            <a:r>
              <a:rPr lang="en-US" sz="3200" b="1" dirty="0">
                <a:latin typeface="Times New Roman" panose="02020603050405020304" pitchFamily="18" charset="0"/>
              </a:rPr>
              <a:t>Wireless Black Box for Cars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35894" y="3450337"/>
            <a:ext cx="9418320" cy="3078479"/>
          </a:xfrm>
        </p:spPr>
        <p:txBody>
          <a:bodyPr>
            <a:noAutofit/>
          </a:bodyPr>
          <a:lstStyle/>
          <a:p>
            <a:pPr defTabSz="457200" rtl="1">
              <a:defRPr/>
            </a:pPr>
            <a:r>
              <a:rPr lang="en-US" altLang="en-US" b="1" dirty="0">
                <a:latin typeface="Times New Roman" panose="02020603050405020304" pitchFamily="18" charset="0"/>
                <a:cs typeface="+mj-cs"/>
              </a:rPr>
              <a:t>Prepared </a:t>
            </a:r>
            <a:r>
              <a:rPr lang="en-US" altLang="en-US" b="1" dirty="0" smtClean="0">
                <a:latin typeface="Times New Roman" panose="02020603050405020304" pitchFamily="18" charset="0"/>
                <a:cs typeface="+mj-cs"/>
              </a:rPr>
              <a:t>By</a:t>
            </a:r>
            <a:r>
              <a:rPr lang="en-US" b="1" dirty="0" smtClean="0">
                <a:solidFill>
                  <a:schemeClr val="tx1"/>
                </a:solidFill>
                <a:latin typeface="Simplified Arabic" pitchFamily="18" charset="-78"/>
                <a:cs typeface="+mj-cs"/>
              </a:rPr>
              <a:t>:</a:t>
            </a:r>
            <a:endParaRPr lang="ar-SY" b="1" dirty="0" smtClean="0">
              <a:solidFill>
                <a:schemeClr val="tx1"/>
              </a:solidFill>
              <a:latin typeface="Simplified Arabic" pitchFamily="18" charset="-78"/>
              <a:cs typeface="+mj-cs"/>
            </a:endParaRPr>
          </a:p>
          <a:p>
            <a:pPr algn="ctr" defTabSz="457200" rtl="1">
              <a:defRPr/>
            </a:pPr>
            <a:r>
              <a:rPr lang="en-US" sz="1600" b="1" dirty="0" err="1" smtClean="0">
                <a:latin typeface="Simplified Arabic" pitchFamily="18" charset="-78"/>
                <a:cs typeface="+mj-cs"/>
              </a:rPr>
              <a:t>MHD.Lutfe</a:t>
            </a:r>
            <a:r>
              <a:rPr lang="en-US" sz="1600" b="1" dirty="0" smtClean="0">
                <a:latin typeface="Simplified Arabic" pitchFamily="18" charset="-78"/>
                <a:cs typeface="+mj-cs"/>
              </a:rPr>
              <a:t> </a:t>
            </a:r>
            <a:r>
              <a:rPr lang="en-US" sz="1600" b="1" dirty="0" err="1" smtClean="0">
                <a:latin typeface="Simplified Arabic" pitchFamily="18" charset="-78"/>
                <a:cs typeface="+mj-cs"/>
              </a:rPr>
              <a:t>kassar</a:t>
            </a:r>
            <a:endParaRPr lang="ar-SY" sz="1600" b="1" dirty="0" smtClean="0">
              <a:solidFill>
                <a:schemeClr val="tx1"/>
              </a:solidFill>
              <a:latin typeface="Simplified Arabic" pitchFamily="18" charset="-78"/>
              <a:cs typeface="+mj-cs"/>
            </a:endParaRPr>
          </a:p>
          <a:p>
            <a:pPr defTabSz="457200" rtl="1">
              <a:defRPr/>
            </a:pPr>
            <a:r>
              <a:rPr lang="en-US" altLang="en-US" b="1" dirty="0" smtClean="0">
                <a:latin typeface="Times New Roman" panose="02020603050405020304" pitchFamily="18" charset="0"/>
                <a:cs typeface="+mj-cs"/>
              </a:rPr>
              <a:t>Supervised by:</a:t>
            </a:r>
          </a:p>
          <a:p>
            <a:pPr defTabSz="457200">
              <a:defRPr/>
            </a:pPr>
            <a:r>
              <a:rPr lang="en-US" sz="1600" b="1" dirty="0" err="1">
                <a:latin typeface="Century Gothic" panose="020B0502020202020204"/>
                <a:cs typeface="+mj-cs"/>
              </a:rPr>
              <a:t>D.Hassan</a:t>
            </a:r>
            <a:r>
              <a:rPr lang="en-US" sz="1600" b="1" dirty="0">
                <a:latin typeface="Century Gothic" panose="020B0502020202020204"/>
                <a:cs typeface="+mj-cs"/>
              </a:rPr>
              <a:t> </a:t>
            </a:r>
            <a:r>
              <a:rPr lang="en-US" sz="1600" b="1" dirty="0" err="1">
                <a:latin typeface="Century Gothic" panose="020B0502020202020204"/>
                <a:cs typeface="+mj-cs"/>
              </a:rPr>
              <a:t>ahmad</a:t>
            </a:r>
            <a:endParaRPr lang="en-US" sz="1600" b="1" dirty="0">
              <a:latin typeface="Century Gothic" panose="020B0502020202020204"/>
              <a:cs typeface="+mj-cs"/>
            </a:endParaRPr>
          </a:p>
          <a:p>
            <a:pPr defTabSz="457200">
              <a:defRPr/>
            </a:pPr>
            <a:r>
              <a:rPr lang="en-US" sz="1600" b="1" dirty="0" err="1">
                <a:latin typeface="Century Gothic" panose="020B0502020202020204"/>
                <a:cs typeface="+mj-cs"/>
              </a:rPr>
              <a:t>ENG.Mohamed</a:t>
            </a:r>
            <a:r>
              <a:rPr lang="en-US" sz="1600" b="1" dirty="0">
                <a:latin typeface="Century Gothic" panose="020B0502020202020204"/>
                <a:cs typeface="+mj-cs"/>
              </a:rPr>
              <a:t> </a:t>
            </a:r>
            <a:r>
              <a:rPr lang="en-US" sz="1600" b="1" dirty="0" err="1">
                <a:latin typeface="Century Gothic" panose="020B0502020202020204"/>
                <a:cs typeface="+mj-cs"/>
              </a:rPr>
              <a:t>othman</a:t>
            </a:r>
            <a:endParaRPr lang="ar-SY" sz="1600" b="1" dirty="0">
              <a:latin typeface="Century Gothic" panose="020B0502020202020204"/>
              <a:cs typeface="+mj-cs"/>
            </a:endParaRPr>
          </a:p>
          <a:p>
            <a:pPr algn="ctr" defTabSz="457200" rtl="1">
              <a:defRPr/>
            </a:pPr>
            <a:endParaRPr lang="ar-SY" sz="1800" dirty="0" smtClean="0">
              <a:solidFill>
                <a:schemeClr val="tx1"/>
              </a:solidFill>
              <a:cs typeface="+mj-cs"/>
            </a:endParaRPr>
          </a:p>
          <a:p>
            <a:pPr defTabSz="457200">
              <a:defRPr/>
            </a:pPr>
            <a:r>
              <a:rPr lang="en-US" sz="1400" b="1" dirty="0" smtClean="0">
                <a:solidFill>
                  <a:schemeClr val="tx1"/>
                </a:solidFill>
                <a:latin typeface="Almarai" pitchFamily="2" charset="-78"/>
                <a:cs typeface="+mj-cs"/>
              </a:rPr>
              <a:t>2026/31/5</a:t>
            </a:r>
          </a:p>
          <a:p>
            <a:pPr defTabSz="457200">
              <a:defRPr/>
            </a:pPr>
            <a:endParaRPr lang="en-US" sz="1400" b="1" dirty="0" smtClean="0">
              <a:solidFill>
                <a:schemeClr val="tx1"/>
              </a:solidFill>
              <a:latin typeface="Almarai" pitchFamily="2" charset="-78"/>
              <a:cs typeface="+mj-cs"/>
            </a:endParaRPr>
          </a:p>
          <a:p>
            <a:pPr algn="ctr" rtl="1"/>
            <a:endParaRPr lang="en-US" sz="1600" dirty="0" smtClean="0">
              <a:solidFill>
                <a:schemeClr val="tx1"/>
              </a:solidFill>
              <a:cs typeface="+mj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 smtClean="0">
              <a:cs typeface="+mj-cs"/>
            </a:endParaRPr>
          </a:p>
          <a:p>
            <a:r>
              <a:rPr lang="en-US" dirty="0" smtClean="0">
                <a:cs typeface="+mj-cs"/>
              </a:rPr>
              <a:t>1</a:t>
            </a:r>
            <a:endParaRPr lang="en-US" dirty="0">
              <a:cs typeface="+mj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377470" y="192024"/>
            <a:ext cx="8518873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en-US" altLang="en-US" sz="2000" dirty="0">
                <a:latin typeface="Times New Roman" panose="02020603050405020304" pitchFamily="18" charset="0"/>
                <a:cs typeface="+mj-cs"/>
              </a:rPr>
              <a:t>Syrian Private University</a:t>
            </a:r>
            <a:br>
              <a:rPr lang="en-US" altLang="en-US" sz="2000" dirty="0">
                <a:latin typeface="Times New Roman" panose="02020603050405020304" pitchFamily="18" charset="0"/>
                <a:cs typeface="+mj-cs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+mj-cs"/>
              </a:rPr>
              <a:t>faculty of Artificial Intelligence Engineering </a:t>
            </a:r>
            <a:br>
              <a:rPr lang="en-US" altLang="en-US" sz="2000" dirty="0">
                <a:latin typeface="Times New Roman" panose="02020603050405020304" pitchFamily="18" charset="0"/>
                <a:cs typeface="+mj-cs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+mj-cs"/>
              </a:rPr>
              <a:t>Telecommunication Engineering</a:t>
            </a:r>
            <a:endParaRPr lang="ar-SY" sz="2000" dirty="0">
              <a:uFill>
                <a:solidFill>
                  <a:srgbClr val="000000"/>
                </a:solidFill>
              </a:uFill>
              <a:latin typeface="Calibri" panose="020F0502020204030204" pitchFamily="34" charset="0"/>
              <a:ea typeface="Calibri" panose="020F0502020204030204" pitchFamily="34" charset="0"/>
              <a:cs typeface="+mj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70"/>
            <a:ext cx="2871788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1834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3873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/>
              <a:t>O</a:t>
            </a:r>
            <a:r>
              <a:rPr lang="en-US" b="1" dirty="0" smtClean="0"/>
              <a:t>utline	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58697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n-US" sz="33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Project </a:t>
            </a:r>
            <a:r>
              <a:rPr lang="en-US" sz="33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Objective</a:t>
            </a:r>
          </a:p>
          <a:p>
            <a:pPr>
              <a:lnSpc>
                <a:spcPct val="150000"/>
              </a:lnSpc>
            </a:pPr>
            <a:r>
              <a:rPr lang="en-GB" dirty="0" smtClean="0">
                <a:latin typeface="Times New Roman" panose="02020603050405020304" pitchFamily="18" charset="0"/>
                <a:cs typeface="+mj-cs"/>
              </a:rPr>
              <a:t>Problem Statement &amp; project Importance </a:t>
            </a:r>
          </a:p>
          <a:p>
            <a:pPr>
              <a:lnSpc>
                <a:spcPct val="150000"/>
              </a:lnSpc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Methodology</a:t>
            </a:r>
            <a:endParaRPr lang="ar-SY" dirty="0" smtClean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+mj-cs"/>
            </a:endParaRPr>
          </a:p>
          <a:p>
            <a:pPr>
              <a:lnSpc>
                <a:spcPct val="150000"/>
              </a:lnSpc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Reference studies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+mj-cs"/>
              </a:rPr>
              <a:t>Theoretical Fundamentals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hardware </a:t>
            </a: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implementation</a:t>
            </a:r>
            <a:endParaRPr lang="ar-SY" sz="2800" dirty="0" smtClean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+mj-cs"/>
            </a:endParaRPr>
          </a:p>
          <a:p>
            <a:pPr>
              <a:lnSpc>
                <a:spcPct val="150000"/>
              </a:lnSpc>
            </a:pPr>
            <a:r>
              <a:rPr lang="en-US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+mj-cs"/>
              </a:rPr>
              <a:t>Reference LIST</a:t>
            </a:r>
            <a:endParaRPr lang="en-US" dirty="0"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28FC70-EC87-4505-B103-CC8A34AD5B99}"/>
              </a:ext>
            </a:extLst>
          </p:cNvPr>
          <p:cNvSpPr txBox="1"/>
          <p:nvPr/>
        </p:nvSpPr>
        <p:spPr>
          <a:xfrm>
            <a:off x="1753565" y="5010859"/>
            <a:ext cx="2234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1600" b="1" dirty="0">
              <a:solidFill>
                <a:srgbClr val="A6A6A6"/>
              </a:solidFill>
              <a:latin typeface="Tw Cen MT" panose="020B0602020104020603" pitchFamily="34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4223084" y="1387532"/>
            <a:ext cx="6019940" cy="4482803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50000"/>
              </a:lnSpc>
            </a:pPr>
            <a:endParaRPr lang="ar-SY" dirty="0">
              <a:solidFill>
                <a:schemeClr val="tx1">
                  <a:lumMod val="95000"/>
                  <a:lumOff val="5000"/>
                </a:schemeClr>
              </a:solidFill>
              <a:latin typeface="Simplified Arabic" pitchFamily="18" charset="-78"/>
              <a:cs typeface="Simplified Arabic" pitchFamily="18" charset="-78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318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4218" y="406998"/>
            <a:ext cx="9404723" cy="1400530"/>
          </a:xfrm>
        </p:spPr>
        <p:txBody>
          <a:bodyPr>
            <a:normAutofit fontScale="90000"/>
          </a:bodyPr>
          <a:lstStyle/>
          <a:p>
            <a:pPr algn="ctr" rtl="1"/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Project Objective</a:t>
            </a:r>
            <a:b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</a:b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08" y="1984198"/>
            <a:ext cx="8946541" cy="4195481"/>
          </a:xfrm>
        </p:spPr>
        <p:txBody>
          <a:bodyPr>
            <a:noAutofit/>
          </a:bodyPr>
          <a:lstStyle/>
          <a:p>
            <a:pPr marL="0" indent="0" algn="ctr" rtl="1">
              <a:buNone/>
            </a:pPr>
            <a:r>
              <a:rPr lang="en-US" sz="3200" b="1" dirty="0" smtClean="0">
                <a:latin typeface="Times New Roman" panose="02020603050405020304" pitchFamily="18" charset="0"/>
              </a:rPr>
              <a:t/>
            </a:r>
            <a:br>
              <a:rPr lang="en-US" sz="3200" b="1" dirty="0" smtClean="0">
                <a:latin typeface="Times New Roman" panose="02020603050405020304" pitchFamily="18" charset="0"/>
              </a:rPr>
            </a:br>
            <a:r>
              <a:rPr lang="en-US" sz="3200" b="1" dirty="0" smtClean="0">
                <a:latin typeface="Times New Roman" panose="02020603050405020304" pitchFamily="18" charset="0"/>
              </a:rPr>
              <a:t>Design of Wireless Black Box for Cars </a:t>
            </a:r>
            <a:endParaRPr lang="ar-SY" sz="3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241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7642" y="789093"/>
            <a:ext cx="9601196" cy="714588"/>
          </a:xfrm>
        </p:spPr>
        <p:txBody>
          <a:bodyPr>
            <a:noAutofit/>
          </a:bodyPr>
          <a:lstStyle/>
          <a:p>
            <a:pPr algn="ctr" rtl="1"/>
            <a:r>
              <a:rPr lang="en-GB" dirty="0" smtClean="0">
                <a:latin typeface="Times New Roman" panose="02020603050405020304" pitchFamily="18" charset="0"/>
                <a:cs typeface="+mj-cs"/>
              </a:rPr>
              <a:t>Problem Statement &amp; project Importance </a:t>
            </a:r>
            <a:br>
              <a:rPr lang="en-GB" dirty="0" smtClean="0">
                <a:latin typeface="Times New Roman" panose="02020603050405020304" pitchFamily="18" charset="0"/>
                <a:cs typeface="+mj-cs"/>
              </a:rPr>
            </a:br>
            <a:endParaRPr lang="en-US" sz="4400" b="1" dirty="0"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6978" y="1879050"/>
            <a:ext cx="9601196" cy="4128348"/>
          </a:xfrm>
        </p:spPr>
        <p:txBody>
          <a:bodyPr>
            <a:noAutofit/>
          </a:bodyPr>
          <a:lstStyle/>
          <a:p>
            <a:pPr marL="0" indent="0" algn="r" rtl="1">
              <a:buNone/>
            </a:pPr>
            <a:endParaRPr lang="ar-SY" altLang="en-US" sz="1800" dirty="0" smtClean="0">
              <a:latin typeface="Arial" panose="020B0604020202020204" pitchFamily="34" charset="0"/>
              <a:cs typeface="+mj-cs"/>
            </a:endParaRPr>
          </a:p>
          <a:p>
            <a:pPr marL="0" indent="0">
              <a:buNone/>
            </a:pPr>
            <a:r>
              <a:rPr lang="en-GB" dirty="0">
                <a:latin typeface="Times New Roman" panose="02020603050405020304" pitchFamily="18" charset="0"/>
                <a:cs typeface="+mj-cs"/>
              </a:rPr>
              <a:t>Problem </a:t>
            </a:r>
            <a:r>
              <a:rPr lang="en-GB" dirty="0" smtClean="0">
                <a:latin typeface="Times New Roman" panose="02020603050405020304" pitchFamily="18" charset="0"/>
                <a:cs typeface="+mj-cs"/>
              </a:rPr>
              <a:t>Statement:</a:t>
            </a:r>
            <a:endParaRPr lang="en-US" dirty="0">
              <a:latin typeface="Arial" panose="020B0604020202020204" pitchFamily="34" charset="0"/>
              <a:cs typeface="+mj-cs"/>
            </a:endParaRPr>
          </a:p>
          <a:p>
            <a:pPr lvl="0"/>
            <a:r>
              <a:rPr lang="en-US" altLang="en-US" sz="1800" dirty="0" smtClean="0">
                <a:latin typeface="Arial" panose="020B0604020202020204" pitchFamily="34" charset="0"/>
                <a:cs typeface="+mj-cs"/>
              </a:rPr>
              <a:t>Traditional </a:t>
            </a:r>
            <a:r>
              <a:rPr lang="en-US" altLang="en-US" sz="1800" dirty="0">
                <a:latin typeface="Arial" panose="020B0604020202020204" pitchFamily="34" charset="0"/>
                <a:cs typeface="+mj-cs"/>
              </a:rPr>
              <a:t>systems do not provide complete accident data. </a:t>
            </a:r>
            <a:endParaRPr lang="ar-SY" altLang="en-US" sz="1800" dirty="0" smtClean="0">
              <a:latin typeface="Arial" panose="020B0604020202020204" pitchFamily="34" charset="0"/>
              <a:cs typeface="+mj-cs"/>
            </a:endParaRPr>
          </a:p>
          <a:p>
            <a:r>
              <a:rPr lang="en-US" sz="1800" dirty="0">
                <a:cs typeface="+mj-cs"/>
              </a:rPr>
              <a:t>Lack of continuous vehicle monitoring. </a:t>
            </a:r>
          </a:p>
          <a:p>
            <a:pPr marL="0" indent="0">
              <a:buNone/>
            </a:pPr>
            <a:r>
              <a:rPr lang="en-GB" dirty="0" smtClean="0">
                <a:latin typeface="Times New Roman" panose="02020603050405020304" pitchFamily="18" charset="0"/>
                <a:cs typeface="+mj-cs"/>
              </a:rPr>
              <a:t>project Importance:</a:t>
            </a:r>
          </a:p>
          <a:p>
            <a:pPr lvl="0"/>
            <a:r>
              <a:rPr lang="en-US" altLang="en-US" sz="1800" dirty="0">
                <a:latin typeface="Arial" panose="020B0604020202020204" pitchFamily="34" charset="0"/>
                <a:cs typeface="+mj-cs"/>
              </a:rPr>
              <a:t>Track vehicle location. </a:t>
            </a:r>
            <a:endParaRPr lang="ar-SY" sz="1800" dirty="0" smtClean="0">
              <a:latin typeface="Times New Roman" panose="02020603050405020304" pitchFamily="18" charset="0"/>
              <a:cs typeface="+mj-cs"/>
            </a:endParaRPr>
          </a:p>
          <a:p>
            <a:r>
              <a:rPr lang="en-US" sz="1800" dirty="0" smtClean="0">
                <a:latin typeface="Times New Roman" panose="02020603050405020304" pitchFamily="18" charset="0"/>
                <a:cs typeface="+mj-cs"/>
              </a:rPr>
              <a:t>Reduction of Insurance Fraud and Costs</a:t>
            </a:r>
            <a:endParaRPr lang="en-US" altLang="en-US" sz="1800" dirty="0">
              <a:latin typeface="Arial" panose="020B0604020202020204" pitchFamily="34" charset="0"/>
              <a:cs typeface="+mj-cs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ar-SY" altLang="en-US" sz="1800" dirty="0" smtClean="0">
                <a:latin typeface="Arial" panose="020B0604020202020204" pitchFamily="34" charset="0"/>
                <a:cs typeface="+mj-cs"/>
              </a:rPr>
              <a:t>   </a:t>
            </a:r>
            <a:r>
              <a:rPr lang="en-US" altLang="en-US" sz="1800" dirty="0" smtClean="0">
                <a:latin typeface="Arial" panose="020B0604020202020204" pitchFamily="34" charset="0"/>
                <a:cs typeface="+mj-cs"/>
              </a:rPr>
              <a:t>Record </a:t>
            </a:r>
            <a:r>
              <a:rPr lang="en-US" altLang="en-US" sz="1800" dirty="0">
                <a:latin typeface="Arial" panose="020B0604020202020204" pitchFamily="34" charset="0"/>
                <a:cs typeface="+mj-cs"/>
              </a:rPr>
              <a:t>real-time vehicle data.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800" dirty="0">
              <a:latin typeface="Arial" panose="020B0604020202020204" pitchFamily="34" charset="0"/>
              <a:cs typeface="+mj-cs"/>
            </a:endParaRPr>
          </a:p>
          <a:p>
            <a:pPr lvl="0"/>
            <a:endParaRPr lang="en-US" altLang="en-US" sz="1800" dirty="0">
              <a:latin typeface="Arial" panose="020B0604020202020204" pitchFamily="34" charset="0"/>
              <a:cs typeface="+mj-cs"/>
            </a:endParaRPr>
          </a:p>
          <a:p>
            <a:pPr marL="0" indent="0">
              <a:buNone/>
            </a:pPr>
            <a:endParaRPr lang="ar-SY" sz="1800" dirty="0" smtClean="0">
              <a:cs typeface="+mj-cs"/>
            </a:endParaRPr>
          </a:p>
          <a:p>
            <a:pPr marL="0" indent="0">
              <a:buNone/>
            </a:pPr>
            <a:r>
              <a:rPr lang="en-US" dirty="0" smtClean="0">
                <a:cs typeface="+mj-cs"/>
              </a:rPr>
              <a:t/>
            </a:r>
            <a:br>
              <a:rPr lang="en-US" dirty="0" smtClean="0">
                <a:cs typeface="+mj-cs"/>
              </a:rPr>
            </a:br>
            <a:endParaRPr lang="en-US" altLang="en-US" dirty="0">
              <a:latin typeface="Times New Roman" panose="02020603050405020304" pitchFamily="18" charset="0"/>
              <a:cs typeface="+mj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4</a:t>
            </a:fld>
            <a:endParaRPr lang="en-US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437642" y="1462624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1702458" y="2438323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0" y="-323165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1944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030" y="125729"/>
            <a:ext cx="9404723" cy="1239520"/>
          </a:xfrm>
        </p:spPr>
        <p:txBody>
          <a:bodyPr>
            <a:normAutofit/>
          </a:bodyPr>
          <a:lstStyle/>
          <a:p>
            <a:pPr algn="l"/>
            <a:r>
              <a:rPr lang="en-US" sz="36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Methodology</a:t>
            </a:r>
            <a:endParaRPr lang="en-US" sz="36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4832" y="1489456"/>
            <a:ext cx="8946541" cy="4287519"/>
          </a:xfrm>
        </p:spPr>
        <p:txBody>
          <a:bodyPr>
            <a:normAutofit fontScale="55000" lnSpcReduction="2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4700" dirty="0" smtClean="0">
                <a:cs typeface="+mj-cs"/>
              </a:rPr>
              <a:t>System Design and Requirement Analysis </a:t>
            </a:r>
            <a:r>
              <a:rPr lang="ar-SY" sz="4700" dirty="0" smtClean="0">
                <a:cs typeface="+mj-cs"/>
              </a:rPr>
              <a:t>:</a:t>
            </a:r>
          </a:p>
          <a:p>
            <a:pPr lvl="1"/>
            <a:r>
              <a:rPr lang="en-US" sz="3600" dirty="0" smtClean="0">
                <a:cs typeface="+mj-cs"/>
              </a:rPr>
              <a:t>Study of the Project Objectives</a:t>
            </a:r>
            <a:endParaRPr lang="ar-SY" sz="3600" dirty="0" smtClean="0">
              <a:cs typeface="+mj-cs"/>
            </a:endParaRPr>
          </a:p>
          <a:p>
            <a:pPr lvl="1"/>
            <a:r>
              <a:rPr lang="en-US" sz="3600" dirty="0" smtClean="0">
                <a:cs typeface="+mj-cs"/>
              </a:rPr>
              <a:t>Analysis of the Addressed Problems</a:t>
            </a:r>
            <a:endParaRPr lang="ar-SY" sz="3600" dirty="0" smtClean="0">
              <a:cs typeface="+mj-cs"/>
            </a:endParaRPr>
          </a:p>
          <a:p>
            <a:pPr lvl="1"/>
            <a:r>
              <a:rPr lang="en-US" sz="3600" dirty="0" smtClean="0">
                <a:cs typeface="+mj-cs"/>
              </a:rPr>
              <a:t>Specification of System Functional Requirement</a:t>
            </a:r>
            <a:endParaRPr lang="ar-SY" sz="3600" dirty="0" smtClean="0">
              <a:cs typeface="+mj-cs"/>
            </a:endParaRPr>
          </a:p>
          <a:p>
            <a:pPr lvl="1"/>
            <a:r>
              <a:rPr lang="ar-SY" sz="3600" dirty="0" smtClean="0">
                <a:cs typeface="+mj-cs"/>
              </a:rPr>
              <a:t> </a:t>
            </a:r>
            <a:r>
              <a:rPr lang="en-US" sz="3600" dirty="0" smtClean="0">
                <a:cs typeface="+mj-cs"/>
              </a:rPr>
              <a:t>Selection of Appropriate Components</a:t>
            </a:r>
            <a:endParaRPr lang="ar-SY" sz="3300" dirty="0" smtClean="0">
              <a:cs typeface="+mj-cs"/>
            </a:endParaRPr>
          </a:p>
          <a:p>
            <a:pPr marL="514350" indent="-514350">
              <a:buFont typeface="+mj-lt"/>
              <a:buAutoNum type="arabicPeriod"/>
            </a:pPr>
            <a:r>
              <a:rPr lang="ar-SY" sz="4700" dirty="0" smtClean="0">
                <a:latin typeface="Times New Roman" panose="02020603050405020304" pitchFamily="18" charset="0"/>
                <a:cs typeface="+mj-cs"/>
              </a:rPr>
              <a:t>  </a:t>
            </a:r>
            <a:r>
              <a:rPr lang="en-US" sz="4700" dirty="0" smtClean="0">
                <a:latin typeface="Times New Roman" panose="02020603050405020304" pitchFamily="18" charset="0"/>
                <a:cs typeface="+mj-cs"/>
              </a:rPr>
              <a:t>Hardware Selection and Setup</a:t>
            </a:r>
            <a:r>
              <a:rPr lang="ar-SY" sz="4700" dirty="0" smtClean="0">
                <a:latin typeface="Times New Roman" panose="02020603050405020304" pitchFamily="18" charset="0"/>
                <a:cs typeface="+mj-cs"/>
              </a:rPr>
              <a:t>:</a:t>
            </a:r>
          </a:p>
          <a:p>
            <a:r>
              <a:rPr lang="en-US" sz="3600" dirty="0" smtClean="0">
                <a:cs typeface="+mj-cs"/>
              </a:rPr>
              <a:t>Choose a microcontroller such as</a:t>
            </a:r>
          </a:p>
          <a:p>
            <a:pPr lvl="1"/>
            <a:r>
              <a:rPr lang="en-US" sz="3600" dirty="0" smtClean="0">
                <a:cs typeface="+mj-cs"/>
              </a:rPr>
              <a:t>ESP32 </a:t>
            </a:r>
          </a:p>
          <a:p>
            <a:r>
              <a:rPr lang="en-US" sz="3600" dirty="0" smtClean="0">
                <a:cs typeface="+mj-cs"/>
              </a:rPr>
              <a:t>Integrate hardware components: </a:t>
            </a:r>
          </a:p>
          <a:p>
            <a:pPr lvl="1"/>
            <a:r>
              <a:rPr lang="en-US" sz="3600" dirty="0" smtClean="0">
                <a:cs typeface="+mj-cs"/>
              </a:rPr>
              <a:t>GPS module (for location tracking)</a:t>
            </a:r>
          </a:p>
          <a:p>
            <a:pPr lvl="1"/>
            <a:r>
              <a:rPr lang="en-US" sz="3600" dirty="0" smtClean="0">
                <a:cs typeface="+mj-cs"/>
              </a:rPr>
              <a:t>Mpu6050 (for speed and axis) </a:t>
            </a:r>
          </a:p>
          <a:p>
            <a:pPr lvl="1"/>
            <a:r>
              <a:rPr lang="en-US" sz="3600" dirty="0" smtClean="0">
                <a:cs typeface="+mj-cs"/>
              </a:rPr>
              <a:t>GSM or Wi-Fi module (for communication) </a:t>
            </a:r>
          </a:p>
          <a:p>
            <a:pPr lvl="1"/>
            <a:r>
              <a:rPr lang="en-US" sz="3600" dirty="0" smtClean="0">
                <a:cs typeface="+mj-cs"/>
              </a:rPr>
              <a:t>Sensors (vibration, speed, alcohol, temperature) </a:t>
            </a:r>
          </a:p>
          <a:p>
            <a:r>
              <a:rPr lang="en-US" sz="3600" dirty="0" smtClean="0">
                <a:cs typeface="+mj-cs"/>
              </a:rPr>
              <a:t>Connect components on a circuit board </a:t>
            </a:r>
          </a:p>
          <a:p>
            <a:pPr marL="0" indent="0">
              <a:buNone/>
            </a:pPr>
            <a:endParaRPr lang="en-US" dirty="0" smtClean="0">
              <a:cs typeface="+mj-cs"/>
            </a:endParaRPr>
          </a:p>
          <a:p>
            <a:pPr lvl="1"/>
            <a:endParaRPr lang="en-US" sz="3300" dirty="0" smtClean="0">
              <a:latin typeface="Times New Roman" panose="02020603050405020304" pitchFamily="18" charset="0"/>
              <a:cs typeface="+mj-cs"/>
            </a:endParaRPr>
          </a:p>
          <a:p>
            <a:pPr marL="0" indent="0" algn="r" rtl="1">
              <a:buNone/>
            </a:pPr>
            <a:endParaRPr lang="ar-SY" dirty="0" smtClean="0">
              <a:cs typeface="+mj-cs"/>
            </a:endParaRPr>
          </a:p>
          <a:p>
            <a:pPr algn="r" rtl="1">
              <a:buFont typeface="Arial" panose="020B0604020202020204" pitchFamily="34" charset="0"/>
              <a:buChar char="•"/>
            </a:pPr>
            <a:endParaRPr lang="ar-SY" dirty="0">
              <a:cs typeface="+mj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8848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idx="1"/>
          </p:nvPr>
        </p:nvSpPr>
        <p:spPr>
          <a:xfrm>
            <a:off x="903079" y="1045332"/>
            <a:ext cx="8946541" cy="4195481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 startAt="3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Acquisition and Storage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Continuously collect data from sensors 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Store data in: </a:t>
            </a:r>
          </a:p>
          <a:p>
            <a:pPr lvl="1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SD Card or in cloud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logs with: </a:t>
            </a:r>
          </a:p>
          <a:p>
            <a:pPr lvl="1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Time, location, speed, and sensor readings 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Wireless Communication System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Send data using: </a:t>
            </a:r>
          </a:p>
          <a:p>
            <a:pPr lvl="1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GSM (SMS alerts) or Wi-Fi/</a:t>
            </a:r>
            <a:r>
              <a:rPr lang="en-US" sz="22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IoT</a:t>
            </a:r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Transmit: </a:t>
            </a:r>
          </a:p>
          <a:p>
            <a:pPr lvl="1"/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Location (GPS coordinates) </a:t>
            </a:r>
          </a:p>
          <a:p>
            <a:r>
              <a:rPr lang="en-US" sz="2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Optionally upload data to cloud server </a:t>
            </a:r>
          </a:p>
          <a:p>
            <a:endParaRPr lang="en-US" sz="19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00050" lvl="1" indent="0" algn="l">
              <a:buNone/>
            </a:pPr>
            <a:endParaRPr lang="ar-SY" sz="30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013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7</a:t>
            </a:fld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1045464" y="685122"/>
            <a:ext cx="6096000" cy="2339102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and Validation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system under different conditions: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 driving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Simulated accidents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of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sensors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 of data transmission </a:t>
            </a:r>
          </a:p>
        </p:txBody>
      </p:sp>
    </p:spTree>
    <p:extLst>
      <p:ext uri="{BB962C8B-B14F-4D97-AF65-F5344CB8AC3E}">
        <p14:creationId xmlns:p14="http://schemas.microsoft.com/office/powerpoint/2010/main" val="3221420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60286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Reference studies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3021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9004948"/>
              </p:ext>
            </p:extLst>
          </p:nvPr>
        </p:nvGraphicFramePr>
        <p:xfrm>
          <a:off x="646176" y="27432"/>
          <a:ext cx="10515600" cy="6584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96601465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1628862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08916011"/>
                    </a:ext>
                  </a:extLst>
                </a:gridCol>
              </a:tblGrid>
              <a:tr h="39563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Paper reference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principle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Methodology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3142192"/>
                  </a:ext>
                </a:extLst>
              </a:tr>
              <a:tr h="3024203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[1] Lakshmi, M., </a:t>
                      </a:r>
                      <a:r>
                        <a:rPr lang="en-US" sz="1600" dirty="0" err="1" smtClean="0">
                          <a:latin typeface="Times New Roman" panose="02020603050405020304" pitchFamily="18" charset="0"/>
                          <a:cs typeface="+mj-cs"/>
                        </a:rPr>
                        <a:t>Aishwarya</a:t>
                      </a:r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,(2024)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concept of integrating multiple sensors with a wireless communication system to continuously monitor vehicle parameters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hardware architecture and software development. In the hardware phase, sensors including temperature (LM35), vibration sensor, alcohol sensor (MQ-3), and accelerometer(MPU6050) are integrated with a microcontroller (Arduino). GPS and GSM modules are used for location tracking and communication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1301538"/>
                  </a:ext>
                </a:extLst>
              </a:tr>
              <a:tr h="1853544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 New Roman" panose="02020603050405020304" pitchFamily="18" charset="0"/>
                          <a:cs typeface="+mj-cs"/>
                        </a:rPr>
                        <a:t>[2]</a:t>
                      </a:r>
                      <a:r>
                        <a:rPr lang="ar-SY" sz="1600" dirty="0" smtClean="0">
                          <a:latin typeface="Times New Roman" panose="02020603050405020304" pitchFamily="18" charset="0"/>
                          <a:cs typeface="+mj-cs"/>
                        </a:rPr>
                        <a:t> </a:t>
                      </a:r>
                      <a:r>
                        <a:rPr lang="en-US" sz="1600" dirty="0" smtClean="0">
                          <a:cs typeface="+mj-cs"/>
                        </a:rPr>
                        <a:t>Rajput, S., &amp; Sharma, V. (2022)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real-time vehicle tracking and data recording using wireless communication technologies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The system integrates GPS for location tracking and GSM for sending SMS alerts. Sensor data is collected through a microcontroller and transmitted to predefined users for monitoring purposes.</a:t>
                      </a:r>
                      <a:endParaRPr lang="en-US" sz="1600" dirty="0"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2018726"/>
                  </a:ext>
                </a:extLst>
              </a:tr>
              <a:tr h="39563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[3]</a:t>
                      </a:r>
                      <a:r>
                        <a:rPr lang="en-US" sz="1600" baseline="0" dirty="0" smtClean="0">
                          <a:cs typeface="+mj-cs"/>
                        </a:rPr>
                        <a:t> </a:t>
                      </a:r>
                      <a:r>
                        <a:rPr lang="sv-SE" sz="1600" dirty="0" smtClean="0">
                          <a:cs typeface="+mj-cs"/>
                        </a:rPr>
                        <a:t>Kumar, A., &amp; Singh, P. (2021).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>
                          <a:cs typeface="+mj-cs"/>
                        </a:rPr>
                        <a:t>IoT</a:t>
                      </a:r>
                      <a:r>
                        <a:rPr lang="en-US" sz="1600" dirty="0" smtClean="0">
                          <a:cs typeface="+mj-cs"/>
                        </a:rPr>
                        <a:t> architecture to enable real-time monitoring and remote access to vehicle data through wireless networks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cs typeface="+mj-cs"/>
                        </a:rPr>
                        <a:t>ESP32 microcontroller is used to collect sensor data and transmit it via Wi-Fi to a cloud platform. The system supports real-time visualization and remote monitoring</a:t>
                      </a:r>
                      <a:endParaRPr lang="en-US" sz="1600" dirty="0"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5232920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18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0050716"/>
              </p:ext>
            </p:extLst>
          </p:nvPr>
        </p:nvGraphicFramePr>
        <p:xfrm>
          <a:off x="737616" y="1368425"/>
          <a:ext cx="10515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25898071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715859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03304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Paper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principle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lt1"/>
                          </a:solidFill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Methodology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1283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dirty="0" smtClean="0"/>
                        <a:t>Omar, A., et al. (2024)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Based Smart Vehicle Accident Detection and Tracking System Using GPS and GSM Technologies.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microcontroller to trigger the SIM808 module upon an event. The GNSS receiver obtains latitude and longitude, and the GSM unit sends the location via SMS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508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 dirty="0" err="1" smtClean="0"/>
                        <a:t>Hanwei</a:t>
                      </a:r>
                      <a:r>
                        <a:rPr lang="en-US" dirty="0" smtClean="0"/>
                        <a:t> Electronics</a:t>
                      </a:r>
                      <a:r>
                        <a:rPr lang="ar-SY" dirty="0" smtClean="0"/>
                        <a:t>) </a:t>
                      </a:r>
                      <a:r>
                        <a:rPr lang="en-US" dirty="0" smtClean="0"/>
                        <a:t>2018</a:t>
                      </a:r>
                      <a:r>
                        <a:rPr lang="ar-SY" dirty="0" smtClean="0"/>
                        <a:t>(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The MQ-3 sensor is based on </a:t>
                      </a:r>
                      <a:r>
                        <a:rPr lang="en-US" b="1" dirty="0" smtClean="0"/>
                        <a:t>semiconductor gas sensing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The sensor continuously measures alcohol concentration in the air. The microcontroller reads the analog value, compares it with a threshold, and triggers an alert if the limit is exceeded, often activating a communication module for notification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621330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672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61509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Theoretical Fundamentals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4360" y="1487072"/>
            <a:ext cx="10759440" cy="4869278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Between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relies on standard communication protocols to enable data exchange between sensors, modules, and the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I2C Protocol 	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communication with sensors like 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MPU (accelerometer &amp; gyroscope)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RTC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	</a:t>
            </a:r>
          </a:p>
          <a:p>
            <a:r>
              <a:rPr lang="en-US" sz="2100" dirty="0"/>
              <a:t>Two-wire </a:t>
            </a:r>
            <a:r>
              <a:rPr lang="en-US" sz="2100" dirty="0" smtClean="0"/>
              <a:t>interface</a:t>
            </a:r>
            <a:r>
              <a:rPr lang="ar-SY" sz="2100" dirty="0"/>
              <a:t>:</a:t>
            </a: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SDA (DATA) AND  SCL (clock)</a:t>
            </a:r>
          </a:p>
          <a:p>
            <a:r>
              <a:rPr lang="en-US" sz="2100" dirty="0"/>
              <a:t>synchronous </a:t>
            </a:r>
            <a:endParaRPr lang="en-US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devices are allowed on the same </a:t>
            </a:r>
            <a:r>
              <a:rPr lang="en-US" sz="2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line</a:t>
            </a:r>
            <a:endParaRPr lang="ar-SY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alt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Half-duplex communication </a:t>
            </a:r>
            <a:endParaRPr lang="en-US" sz="2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100" dirty="0" smtClean="0"/>
              <a:t>Data </a:t>
            </a:r>
            <a:r>
              <a:rPr lang="en-US" sz="2100" dirty="0"/>
              <a:t>transfer rates typically up to 400 </a:t>
            </a:r>
            <a:r>
              <a:rPr lang="en-US" sz="2100" dirty="0" err="1"/>
              <a:t>kbit</a:t>
            </a:r>
            <a:r>
              <a:rPr lang="en-US" sz="2100" dirty="0"/>
              <a:t>/s </a:t>
            </a:r>
          </a:p>
          <a:p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656064" y="5928103"/>
            <a:ext cx="28742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I2C=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Inter-Integrated Circuit</a:t>
            </a: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838200" y="4824907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3402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2136" y="79404"/>
            <a:ext cx="11273355" cy="631418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analog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voltage signal proportional to physical quantity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Analog-to-Digital Conversion (ADC)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sensors such as: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Alcohol sensor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sensor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 Interface: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binary output (HIGH/LOW) 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Directly interpreted by microcontroller GPIO pins 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for: </a:t>
            </a:r>
          </a:p>
          <a:p>
            <a:pPr lvl="1"/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Vibration sensors (threshold-based output)</a:t>
            </a:r>
          </a:p>
          <a:p>
            <a:pPr marL="457200" lvl="1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endParaRPr lang="en-US" alt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>
              <a:buNone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12</a:t>
            </a:fld>
            <a:endParaRPr lang="en-US"/>
          </a:p>
        </p:txBody>
      </p:sp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109728" y="216331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0" y="-524333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auto">
          <a:xfrm>
            <a:off x="184731" y="-323165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811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4736" y="289433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Data Storage Architecture</a:t>
            </a:r>
          </a:p>
          <a:p>
            <a:pPr marL="0" indent="0">
              <a:buNone/>
            </a:pPr>
            <a:r>
              <a:rPr lang="en-US" b="1" dirty="0" smtClean="0"/>
              <a:t>🔹 </a:t>
            </a:r>
            <a:r>
              <a:rPr lang="en-US" b="1" dirty="0"/>
              <a:t>Local Storage (SD Card):</a:t>
            </a:r>
          </a:p>
          <a:p>
            <a:r>
              <a:rPr lang="en-US" dirty="0"/>
              <a:t>Stores structured logs (CSV or binary format) </a:t>
            </a:r>
          </a:p>
          <a:p>
            <a:r>
              <a:rPr lang="en-US" dirty="0"/>
              <a:t>Includes timestamped sensor readings </a:t>
            </a:r>
          </a:p>
          <a:p>
            <a:r>
              <a:rPr lang="en-US" dirty="0"/>
              <a:t>Ensures data persistence during network failure </a:t>
            </a:r>
          </a:p>
          <a:p>
            <a:r>
              <a:rPr lang="en-US" b="1" dirty="0"/>
              <a:t>🔹 Microcontroller Memory:</a:t>
            </a:r>
          </a:p>
          <a:p>
            <a:r>
              <a:rPr lang="en-US" dirty="0"/>
              <a:t>Temporary buffer for real-time processing </a:t>
            </a:r>
          </a:p>
          <a:p>
            <a:r>
              <a:rPr lang="en-US" dirty="0"/>
              <a:t>Limited capacity (RAM/Flash constraints) </a:t>
            </a:r>
          </a:p>
          <a:p>
            <a:r>
              <a:rPr lang="en-US" b="1" dirty="0"/>
              <a:t>🔹 Cloud Storage (Optional </a:t>
            </a:r>
            <a:r>
              <a:rPr lang="en-US" b="1" dirty="0" err="1"/>
              <a:t>IoT</a:t>
            </a:r>
            <a:r>
              <a:rPr lang="en-US" b="1" dirty="0"/>
              <a:t> Layer):</a:t>
            </a:r>
          </a:p>
          <a:p>
            <a:r>
              <a:rPr lang="en-US" dirty="0"/>
              <a:t>Remote database storage </a:t>
            </a:r>
          </a:p>
          <a:p>
            <a:r>
              <a:rPr lang="en-US" dirty="0"/>
              <a:t>Enables long-term analytics and accessibility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116568" y="5340096"/>
            <a:ext cx="23865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CSV=Comma-Separated Values</a:t>
            </a:r>
          </a:p>
          <a:p>
            <a:r>
              <a:rPr lang="en-US" dirty="0" smtClean="0"/>
              <a:t>IOT= internet of things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468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14</a:t>
            </a:fld>
            <a:endParaRPr lang="en-US"/>
          </a:p>
        </p:txBody>
      </p:sp>
      <p:sp>
        <p:nvSpPr>
          <p:cNvPr id="5" name="Title 1"/>
          <p:cNvSpPr>
            <a:spLocks noGrp="1"/>
          </p:cNvSpPr>
          <p:nvPr>
            <p:ph idx="1"/>
          </p:nvPr>
        </p:nvSpPr>
        <p:spPr>
          <a:xfrm>
            <a:off x="838200" y="463422"/>
            <a:ext cx="10515600" cy="5205857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Protocol </a:t>
            </a: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is a widely used asynchronous serial communication protocol that enables point-to-point data exchange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(no shared clock signal)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TX (Transmit) and RX (Receive) lines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Configurable baud rate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frame structure (start bit, data bits, stop bit) 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wide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range of embedded communication modules.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851392" y="5710019"/>
            <a:ext cx="3246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UART=Universal Asynchronous Receiver/Transmitter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3394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4999" y="0"/>
            <a:ext cx="10515600" cy="1325563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hardware implementation</a:t>
            </a:r>
            <a:endParaRPr lang="ar-SY" sz="36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2201" y="1152982"/>
            <a:ext cx="9601196" cy="5110657"/>
          </a:xfrm>
        </p:spPr>
        <p:txBody>
          <a:bodyPr>
            <a:noAutofit/>
          </a:bodyPr>
          <a:lstStyle/>
          <a:p>
            <a:r>
              <a:rPr lang="en-US" sz="2400" dirty="0">
                <a:cs typeface="+mj-cs"/>
              </a:rPr>
              <a:t>ESP32 </a:t>
            </a:r>
            <a:r>
              <a:rPr lang="en-US" sz="2400" dirty="0" smtClean="0">
                <a:cs typeface="+mj-cs"/>
              </a:rPr>
              <a:t>Microcontroller</a:t>
            </a:r>
            <a:endParaRPr lang="en-US" sz="2400" dirty="0">
              <a:cs typeface="+mj-cs"/>
            </a:endParaRPr>
          </a:p>
          <a:p>
            <a:r>
              <a:rPr lang="en-US" sz="1800" dirty="0">
                <a:cs typeface="+mj-cs"/>
              </a:rPr>
              <a:t>The ESP32 acts as the </a:t>
            </a:r>
            <a:r>
              <a:rPr lang="en-US" sz="1800" b="1" dirty="0" err="1" smtClean="0">
                <a:cs typeface="+mj-cs"/>
              </a:rPr>
              <a:t>MasterMind</a:t>
            </a:r>
            <a:r>
              <a:rPr lang="en-US" sz="1800" b="1" dirty="0" smtClean="0">
                <a:cs typeface="+mj-cs"/>
              </a:rPr>
              <a:t> </a:t>
            </a:r>
            <a:r>
              <a:rPr lang="en-US" sz="1800" dirty="0" smtClean="0">
                <a:cs typeface="+mj-cs"/>
              </a:rPr>
              <a:t>which responsible </a:t>
            </a:r>
            <a:r>
              <a:rPr lang="en-US" sz="1800" dirty="0">
                <a:cs typeface="+mj-cs"/>
              </a:rPr>
              <a:t>for:</a:t>
            </a:r>
          </a:p>
          <a:p>
            <a:r>
              <a:rPr lang="en-US" sz="1800" dirty="0">
                <a:cs typeface="+mj-cs"/>
              </a:rPr>
              <a:t>Collecting sensor data </a:t>
            </a:r>
          </a:p>
          <a:p>
            <a:r>
              <a:rPr lang="en-US" sz="1800" dirty="0">
                <a:cs typeface="+mj-cs"/>
              </a:rPr>
              <a:t>Running decision-making algorithms </a:t>
            </a:r>
          </a:p>
          <a:p>
            <a:r>
              <a:rPr lang="en-US" sz="1800" dirty="0">
                <a:cs typeface="+mj-cs"/>
              </a:rPr>
              <a:t>Triggering alerts and communication modules </a:t>
            </a:r>
          </a:p>
          <a:p>
            <a:r>
              <a:rPr lang="en-US" sz="1800" dirty="0">
                <a:cs typeface="+mj-cs"/>
              </a:rPr>
              <a:t>Synchronizing all subsystems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800" dirty="0">
                <a:cs typeface="+mj-cs"/>
              </a:rPr>
              <a:t>ESP32 is chosen due to:</a:t>
            </a:r>
          </a:p>
          <a:p>
            <a:r>
              <a:rPr lang="en-US" sz="1800" dirty="0">
                <a:cs typeface="+mj-cs"/>
              </a:rPr>
              <a:t>High computational capability for real-time processing </a:t>
            </a:r>
          </a:p>
          <a:p>
            <a:r>
              <a:rPr lang="en-US" sz="1800" dirty="0">
                <a:cs typeface="+mj-cs"/>
              </a:rPr>
              <a:t>Built-in wireless communication (reduces external modules) </a:t>
            </a:r>
          </a:p>
          <a:p>
            <a:r>
              <a:rPr lang="en-US" sz="1800" dirty="0">
                <a:cs typeface="+mj-cs"/>
              </a:rPr>
              <a:t>Multi-channel ADC support for analog sensors </a:t>
            </a:r>
          </a:p>
          <a:p>
            <a:r>
              <a:rPr lang="en-US" sz="1800" dirty="0">
                <a:cs typeface="+mj-cs"/>
              </a:rPr>
              <a:t>Low power consumption compared to similar MCUs</a:t>
            </a:r>
          </a:p>
          <a:p>
            <a:pPr marL="0" indent="0">
              <a:buNone/>
            </a:pPr>
            <a:endParaRPr lang="en-US" sz="1600" dirty="0">
              <a:cs typeface="+mj-cs"/>
            </a:endParaRPr>
          </a:p>
          <a:p>
            <a:pPr marL="0" indent="0">
              <a:buNone/>
            </a:pPr>
            <a:endParaRPr lang="ar-SY" sz="1600" dirty="0" smtClean="0">
              <a:cs typeface="+mj-cs"/>
            </a:endParaRPr>
          </a:p>
          <a:p>
            <a:pPr marL="0" indent="0" algn="r" rtl="1">
              <a:buNone/>
            </a:pPr>
            <a:endParaRPr lang="ar-SY" sz="1600" dirty="0" smtClean="0">
              <a:cs typeface="+mj-cs"/>
            </a:endParaRPr>
          </a:p>
          <a:p>
            <a:pPr marL="0" indent="0" algn="r" rtl="1">
              <a:buNone/>
            </a:pPr>
            <a:endParaRPr lang="en-US" sz="1600" dirty="0">
              <a:cs typeface="+mj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15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35077" y1="56799" x2="35077" y2="56799"/>
                        <a14:foregroundMark x1="36923" y1="58996" x2="36923" y2="58996"/>
                        <a14:foregroundMark x1="35077" y1="59623" x2="35077" y2="59623"/>
                        <a14:foregroundMark x1="33462" y1="57427" x2="33462" y2="57427"/>
                        <a14:foregroundMark x1="32077" y1="57741" x2="32077" y2="5774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7803" y="831887"/>
            <a:ext cx="4028794" cy="2962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540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475"/>
            <a:ext cx="10515600" cy="1325563"/>
          </a:xfrm>
        </p:spPr>
        <p:txBody>
          <a:bodyPr>
            <a:normAutofit/>
          </a:bodyPr>
          <a:lstStyle/>
          <a:p>
            <a:pPr rtl="1"/>
            <a:r>
              <a:rPr lang="en-US" sz="36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rPr>
              <a:t>hardware implementation</a:t>
            </a:r>
            <a:endParaRPr lang="en-US" sz="36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03312" y="1168400"/>
            <a:ext cx="8946541" cy="5079999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MPU6050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Sensor 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type: 6-axis IMU (3-axis accelerometer + 3-axis gyroscope)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Detects 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acceleration, vibration, and orientation changes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angular velocity and tilt </a:t>
            </a: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estimation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</a:t>
            </a: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abnormal 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motion patterns </a:t>
            </a:r>
            <a:r>
              <a:rPr lang="en-US" alt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MPU6050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inertial sensing, which is essential for:</a:t>
            </a:r>
          </a:p>
          <a:p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Vehicle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stability monitoring 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Motion classification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r" rtl="1">
              <a:buNone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backgroundMark x1="29750" y1="62000" x2="29750" y2="62000"/>
                        <a14:backgroundMark x1="29250" y1="69750" x2="29250" y2="69750"/>
                        <a14:backgroundMark x1="29500" y1="79250" x2="29500" y2="79250"/>
                        <a14:backgroundMark x1="29750" y1="21250" x2="29750" y2="21250"/>
                        <a14:backgroundMark x1="29750" y1="29500" x2="29750" y2="29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8113" y="1540084"/>
            <a:ext cx="2463480" cy="2463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674306" y="5485875"/>
            <a:ext cx="35176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rtl="1"/>
            <a:r>
              <a:rPr lang="en-US" dirty="0"/>
              <a:t>MPU6050:  </a:t>
            </a:r>
            <a:r>
              <a:rPr lang="en-US" b="1" dirty="0">
                <a:hlinkClick r:id="rId4"/>
              </a:rPr>
              <a:t>Motion Processing Unit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76584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6696" y="452718"/>
            <a:ext cx="9246197" cy="590363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Sensor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LM35 Specifications:</a:t>
            </a:r>
          </a:p>
          <a:p>
            <a:pPr marL="342900" indent="-342900">
              <a:buFont typeface="+mj-lt"/>
              <a:buAutoNum type="alphaU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Analog output sensor 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lphaUcPeriod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Range: -55°C to +150°C </a:t>
            </a:r>
          </a:p>
          <a:p>
            <a:pPr marL="342900" indent="-342900">
              <a:buFont typeface="+mj-lt"/>
              <a:buAutoNum type="alphaUcPeriod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±0.5°C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Vibration Sensor</a:t>
            </a:r>
          </a:p>
          <a:p>
            <a:pPr marL="514350" indent="-51435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ct val="70000"/>
              <a:buFont typeface="+mj-lt"/>
              <a:buAutoNum type="alphaUcPeriod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Detects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mechanical vibration and shocks 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Acts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a trigger for sudden impact detection </a:t>
            </a:r>
            <a:endParaRPr lang="en-US" alt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Digital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signal 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Adjustable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</a:t>
            </a:r>
            <a:endParaRPr lang="en-US" sz="1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Alcohol Sensor (MQ-3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514350" lvl="0" indent="-514350" eaLnBrk="0" fontAlgn="base" hangingPunct="0">
              <a:spcBef>
                <a:spcPct val="0"/>
              </a:spcBef>
              <a:spcAft>
                <a:spcPct val="0"/>
              </a:spcAft>
              <a:buSzPct val="70000"/>
              <a:buFont typeface="+mj-lt"/>
              <a:buAutoNum type="alphaUcPeriod"/>
            </a:pPr>
            <a:r>
              <a:rPr lang="en-US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Measures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alcohol concentration in breath/environment 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alt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Provides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 validation </a:t>
            </a:r>
          </a:p>
          <a:p>
            <a:pPr marL="342900" lvl="0" indent="-3429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lphaUcPeriod"/>
            </a:pP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Target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gas: Ethanol</a:t>
            </a:r>
          </a:p>
          <a:p>
            <a:pPr marL="0" indent="0">
              <a:buSzPct val="70000"/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17</a:t>
            </a:fld>
            <a:endParaRPr lang="en-US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296352" y="3171182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-338328" y="25890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0" y="647921"/>
            <a:ext cx="1930908" cy="144818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5225" y="2096102"/>
            <a:ext cx="2521458" cy="1308432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0" y="3719805"/>
            <a:ext cx="1723859" cy="1723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072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2456" y="490600"/>
            <a:ext cx="10515600" cy="5654167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RTC(DS3231)</a:t>
            </a:r>
          </a:p>
          <a:p>
            <a:pPr marL="0" lvl="0" indent="0">
              <a:buNone/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Maintains accurate time even during power loss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logging </a:t>
            </a:r>
          </a:p>
          <a:p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Synchronization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system alerts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SIM808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Module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highly integrated communication module that combines: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GSM/GPRS communication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GPS positioning (GNSS receiver)</a:t>
            </a:r>
          </a:p>
          <a:p>
            <a:pPr marL="0" indent="0">
              <a:buNone/>
            </a:pPr>
            <a:r>
              <a:rPr lang="en-US" sz="1800" dirty="0"/>
              <a:t>consists of two main </a:t>
            </a:r>
            <a:r>
              <a:rPr lang="en-US" sz="1800" dirty="0" smtClean="0"/>
              <a:t>subsystems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800" dirty="0"/>
              <a:t>GSM/GPRS </a:t>
            </a:r>
            <a:r>
              <a:rPr lang="en-US" sz="1800" dirty="0" smtClean="0"/>
              <a:t>Subsystem</a:t>
            </a:r>
          </a:p>
          <a:p>
            <a:pPr marL="0" indent="0">
              <a:buNone/>
            </a:pPr>
            <a:r>
              <a:rPr lang="en-US" sz="1800" dirty="0" smtClean="0"/>
              <a:t>Handles:</a:t>
            </a:r>
            <a:endParaRPr lang="en-US" sz="1800" dirty="0"/>
          </a:p>
          <a:p>
            <a:r>
              <a:rPr lang="en-US" sz="1800" dirty="0"/>
              <a:t>SMS transmission </a:t>
            </a:r>
          </a:p>
          <a:p>
            <a:r>
              <a:rPr lang="en-US" sz="1800" dirty="0"/>
              <a:t>Voice calls 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78240" y="5871718"/>
            <a:ext cx="2743200" cy="365125"/>
          </a:xfrm>
        </p:spPr>
        <p:txBody>
          <a:bodyPr/>
          <a:lstStyle/>
          <a:p>
            <a:fld id="{33896C7E-A916-41EB-B46D-FD73DBAC0E04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403080" y="52852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RTC=REAL TIME CLOCK</a:t>
            </a:r>
            <a:endParaRPr lang="en-US" dirty="0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167640" y="-707213"/>
            <a:ext cx="26481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658" y="444880"/>
            <a:ext cx="2312670" cy="231267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5458" y="2492502"/>
            <a:ext cx="2769870" cy="2769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087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19</a:t>
            </a:fld>
            <a:endParaRPr lang="en-US"/>
          </a:p>
        </p:txBody>
      </p:sp>
      <p:sp>
        <p:nvSpPr>
          <p:cNvPr id="6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658368" y="487662"/>
            <a:ext cx="11597640" cy="688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1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Interface with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ESP32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(Serial Communication)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 Connection: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SIM808 TX → ESP32 RX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SIM808 RX → ESP32 TX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GND → GND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 → External 4V 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supply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 smtClean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010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546592" y="6328918"/>
            <a:ext cx="2743200" cy="365125"/>
          </a:xfrm>
        </p:spPr>
        <p:txBody>
          <a:bodyPr/>
          <a:lstStyle/>
          <a:p>
            <a:fld id="{33896C7E-A916-41EB-B46D-FD73DBAC0E04}" type="slidenum">
              <a:rPr lang="en-US" smtClean="0"/>
              <a:t>20</a:t>
            </a:fld>
            <a:endParaRPr lang="en-US"/>
          </a:p>
        </p:txBody>
      </p:sp>
      <p:graphicFrame>
        <p:nvGraphicFramePr>
          <p:cNvPr id="18" name="Content Placeholder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8421861"/>
              </p:ext>
            </p:extLst>
          </p:nvPr>
        </p:nvGraphicFramePr>
        <p:xfrm>
          <a:off x="774192" y="1103245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27456152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08838546"/>
                    </a:ext>
                  </a:extLst>
                </a:gridCol>
              </a:tblGrid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Specification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Feature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9435601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GSM/GPRS + GPS integrated module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Module Type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9253322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Quad-band (850 / 900 / 1800 / 1900 MHz)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Cellular Bands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1432710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22 tracking / 66 acquisition channels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GPS Channels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2485575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~2.5 meters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GPS Accuracy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12587208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Tracking: -165 </a:t>
                      </a:r>
                      <a:r>
                        <a:rPr lang="en-US" dirty="0" err="1" smtClean="0"/>
                        <a:t>dBm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Sensitivity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03717594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UART (Serial)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Communication Interface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806930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3.4V – 4.4V (typical 4V)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Operating Voltage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1508718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~2A peak (during transmission)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Current Consumption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7046490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TCP/IP, HTTP, SMS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Protocols Supported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58566"/>
                  </a:ext>
                </a:extLst>
              </a:tr>
              <a:tr h="351845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External GSM + GPS antennas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Antenna Support</a:t>
                      </a:r>
                      <a:endParaRPr lang="en-US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568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425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8472" y="70294"/>
            <a:ext cx="10515600" cy="1325563"/>
          </a:xfrm>
        </p:spPr>
        <p:txBody>
          <a:bodyPr>
            <a:normAutofit/>
          </a:bodyPr>
          <a:lstStyle/>
          <a:p>
            <a:pPr marL="457200" indent="-457200">
              <a:buFont typeface="Wingdings" panose="05000000000000000000" pitchFamily="2" charset="2"/>
              <a:buChar char="§"/>
            </a:pPr>
            <a:r>
              <a:rPr lang="en-US" sz="2800" dirty="0" smtClean="0"/>
              <a:t>ESP32 CAM</a:t>
            </a:r>
            <a:endParaRPr lang="en-US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8472" y="1121536"/>
            <a:ext cx="10515600" cy="4630039"/>
          </a:xfrm>
        </p:spPr>
        <p:txBody>
          <a:bodyPr>
            <a:normAutofit fontScale="70000" lnSpcReduction="20000"/>
          </a:bodyPr>
          <a:lstStyle/>
          <a:p>
            <a:r>
              <a:rPr lang="en-US" sz="2300" dirty="0"/>
              <a:t>The </a:t>
            </a:r>
            <a:r>
              <a:rPr lang="en-US" sz="2300" b="1" dirty="0"/>
              <a:t>ESP32-CAM module</a:t>
            </a:r>
            <a:r>
              <a:rPr lang="en-US" sz="2300" dirty="0"/>
              <a:t> is a compact microcontroller-based camera module that integrates</a:t>
            </a:r>
            <a:r>
              <a:rPr lang="en-US" sz="2300" dirty="0" smtClean="0"/>
              <a:t>:</a:t>
            </a:r>
            <a:endParaRPr lang="en-US" sz="2300" dirty="0"/>
          </a:p>
          <a:p>
            <a:r>
              <a:rPr lang="en-US" sz="2300" dirty="0"/>
              <a:t>OV2640 camera </a:t>
            </a:r>
          </a:p>
          <a:p>
            <a:r>
              <a:rPr lang="en-US" sz="2300" dirty="0" err="1"/>
              <a:t>WiFi</a:t>
            </a:r>
            <a:r>
              <a:rPr lang="en-US" sz="2300" dirty="0"/>
              <a:t> connectivity </a:t>
            </a:r>
          </a:p>
          <a:p>
            <a:r>
              <a:rPr lang="en-US" sz="2300" dirty="0"/>
              <a:t>Optional </a:t>
            </a:r>
            <a:r>
              <a:rPr lang="en-US" sz="2300" dirty="0" err="1"/>
              <a:t>microSD</a:t>
            </a:r>
            <a:r>
              <a:rPr lang="en-US" sz="2300" dirty="0"/>
              <a:t> storage </a:t>
            </a:r>
            <a:endParaRPr lang="ar-SY" sz="2300" dirty="0" smtClean="0"/>
          </a:p>
          <a:p>
            <a:r>
              <a:rPr lang="en-US" sz="2300" dirty="0"/>
              <a:t>high-performance microcontroller based on a 32-bit dual-core </a:t>
            </a:r>
            <a:r>
              <a:rPr lang="en-US" sz="2300" dirty="0" err="1"/>
              <a:t>Xtensa</a:t>
            </a:r>
            <a:r>
              <a:rPr lang="en-US" sz="2300" dirty="0"/>
              <a:t> LX6 architecture</a:t>
            </a:r>
            <a:r>
              <a:rPr lang="en-US" sz="2300" dirty="0" smtClean="0"/>
              <a:t>.</a:t>
            </a:r>
            <a:endParaRPr lang="ar-SY" sz="2300" dirty="0" smtClean="0"/>
          </a:p>
          <a:p>
            <a:r>
              <a:rPr lang="en-US" sz="2300" dirty="0"/>
              <a:t>operates at a clock frequency of up to 240 </a:t>
            </a:r>
            <a:r>
              <a:rPr lang="en-US" sz="2300" dirty="0" smtClean="0"/>
              <a:t>MHz</a:t>
            </a:r>
            <a:endParaRPr lang="ar-SY" sz="2300" dirty="0" smtClean="0"/>
          </a:p>
          <a:p>
            <a:r>
              <a:rPr lang="en-US" sz="2300" dirty="0"/>
              <a:t>equipped with approximately 520 KB of SRAM and typically includes around 4 MB of external flash </a:t>
            </a:r>
            <a:r>
              <a:rPr lang="en-US" sz="2300" dirty="0" smtClean="0"/>
              <a:t>memory</a:t>
            </a:r>
            <a:endParaRPr lang="ar-SY" sz="2300" dirty="0" smtClean="0"/>
          </a:p>
          <a:p>
            <a:r>
              <a:rPr lang="en-US" sz="3100" dirty="0" smtClean="0"/>
              <a:t>Camera </a:t>
            </a:r>
            <a:r>
              <a:rPr lang="en-US" sz="3100" dirty="0"/>
              <a:t>Sensor (OV2640</a:t>
            </a:r>
            <a:r>
              <a:rPr lang="en-US" sz="3100" dirty="0" smtClean="0"/>
              <a:t>)</a:t>
            </a:r>
            <a:endParaRPr lang="en-US" sz="3100" dirty="0"/>
          </a:p>
          <a:p>
            <a:r>
              <a:rPr lang="en-US" sz="2600" dirty="0"/>
              <a:t>2MP resolution </a:t>
            </a:r>
          </a:p>
          <a:p>
            <a:r>
              <a:rPr lang="en-US" sz="2600" dirty="0"/>
              <a:t>Supports JPEG compression (important for </a:t>
            </a:r>
            <a:r>
              <a:rPr lang="en-US" sz="2600" dirty="0" err="1"/>
              <a:t>IoT</a:t>
            </a:r>
            <a:r>
              <a:rPr lang="en-US" sz="2600" dirty="0"/>
              <a:t>) </a:t>
            </a:r>
          </a:p>
          <a:p>
            <a:r>
              <a:rPr lang="en-US" sz="2600" dirty="0"/>
              <a:t>Low power consumption </a:t>
            </a:r>
          </a:p>
          <a:p>
            <a:r>
              <a:rPr lang="en-US" sz="2600" dirty="0"/>
              <a:t>Adjustable: </a:t>
            </a:r>
          </a:p>
          <a:p>
            <a:pPr lvl="1"/>
            <a:r>
              <a:rPr lang="en-US" sz="2600" dirty="0"/>
              <a:t>Brightness </a:t>
            </a:r>
          </a:p>
          <a:p>
            <a:pPr lvl="1"/>
            <a:r>
              <a:rPr lang="en-US" sz="2600" dirty="0"/>
              <a:t>Contrast </a:t>
            </a:r>
          </a:p>
          <a:p>
            <a:pPr lvl="1"/>
            <a:r>
              <a:rPr lang="en-US" sz="2600" dirty="0"/>
              <a:t>White balance 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624" y="785432"/>
            <a:ext cx="2060448" cy="206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44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96" y="652519"/>
            <a:ext cx="8243537" cy="5511807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492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23</a:t>
            </a:fld>
            <a:endParaRPr lang="en-US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137" y="748420"/>
            <a:ext cx="4706743" cy="57904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14400" y="832104"/>
            <a:ext cx="2562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System flowchart: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74327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</a:t>
            </a:r>
            <a:r>
              <a:rPr lang="en-US" b="1" dirty="0"/>
              <a:t> </a:t>
            </a:r>
            <a:r>
              <a:rPr lang="en-US" dirty="0"/>
              <a:t>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24</a:t>
            </a:fld>
            <a:endParaRPr lang="en-US"/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668895"/>
            <a:ext cx="9703362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latin typeface="Arial" panose="020B0604020202020204" pitchFamily="34" charset="0"/>
              </a:rPr>
              <a:t>Assembly and integration of ESP32, MPU6050, LM35, MQ-3, vibration sensor, and SIM808.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latin typeface="Arial" panose="020B0604020202020204" pitchFamily="34" charset="0"/>
              </a:rPr>
              <a:t>Development of embedded software using </a:t>
            </a:r>
            <a:r>
              <a:rPr lang="en-US" altLang="en-US" sz="1800" dirty="0" smtClean="0">
                <a:latin typeface="Arial" panose="020B0604020202020204" pitchFamily="34" charset="0"/>
              </a:rPr>
              <a:t>Arduino IDE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latin typeface="Arial" panose="020B0604020202020204" pitchFamily="34" charset="0"/>
              </a:rPr>
              <a:t>Real-time acquisition and processing of sensor data.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latin typeface="Arial" panose="020B0604020202020204" pitchFamily="34" charset="0"/>
              </a:rPr>
              <a:t>Accident detection based on acceleration and vibration thresholds.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latin typeface="Arial" panose="020B0604020202020204" pitchFamily="34" charset="0"/>
              </a:rPr>
              <a:t>GPS location acquisition using SIM808.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latin typeface="Arial" panose="020B0604020202020204" pitchFamily="34" charset="0"/>
              </a:rPr>
              <a:t>Data logging and system performance testing under different scenarios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72874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25</a:t>
            </a:fld>
            <a:endParaRPr lang="en-US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4156" y="1217773"/>
            <a:ext cx="2710535" cy="4845651"/>
          </a:xfrm>
        </p:spPr>
      </p:pic>
      <p:sp>
        <p:nvSpPr>
          <p:cNvPr id="10" name="TextBox 9"/>
          <p:cNvSpPr txBox="1"/>
          <p:nvPr/>
        </p:nvSpPr>
        <p:spPr>
          <a:xfrm>
            <a:off x="539496" y="1362456"/>
            <a:ext cx="3364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Photo of project: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8371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video 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26</a:t>
            </a:fld>
            <a:endParaRPr lang="en-US"/>
          </a:p>
        </p:txBody>
      </p:sp>
      <p:pic>
        <p:nvPicPr>
          <p:cNvPr id="5" name="IMG_648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21486" y="1216152"/>
            <a:ext cx="8090026" cy="4912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55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10261"/>
            <a:ext cx="10515600" cy="1325563"/>
          </a:xfrm>
        </p:spPr>
        <p:txBody>
          <a:bodyPr/>
          <a:lstStyle/>
          <a:p>
            <a:r>
              <a:rPr lang="en-US" dirty="0" smtClean="0"/>
              <a:t>Telemetry massage 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27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45236" y="1635824"/>
            <a:ext cx="1070152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REC=</a:t>
            </a:r>
            <a:r>
              <a:rPr lang="en-US" dirty="0" err="1"/>
              <a:t>s,RTC</a:t>
            </a:r>
            <a:r>
              <a:rPr lang="en-US" dirty="0"/>
              <a:t>=2026-05-30 21:18:42,MOTOR=FORWARD,PWM=180,MQ3_RAW=1420,MQ3_V=1.144,VIB=0,VIB_EVENT=0,LM35_1=24.8,LM35_2=25.1,LM35_3=24.6,LM35_4=26.0,AX=0.012,AY=-</a:t>
            </a:r>
            <a:r>
              <a:rPr lang="en-US" dirty="0" smtClean="0"/>
              <a:t>0.034,AZ=0.987,MPU_MOVE=STABLE,GPS_FIX=1,LAT=33.513805,LON=36.276527,ALT=690.5,GPS_SPEED=0.12</a:t>
            </a:r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69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08" t="4799" r="991" b="4866"/>
          <a:stretch/>
        </p:blipFill>
        <p:spPr>
          <a:xfrm>
            <a:off x="379023" y="609917"/>
            <a:ext cx="11447217" cy="5928995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9714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</a:t>
            </a:r>
            <a:r>
              <a:rPr lang="en-US" sz="24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42161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 smtClean="0"/>
              <a:t>[1] Lakshmi</a:t>
            </a:r>
            <a:r>
              <a:rPr lang="en-US" dirty="0"/>
              <a:t>, M., &amp; </a:t>
            </a:r>
            <a:r>
              <a:rPr lang="en-US" dirty="0" err="1"/>
              <a:t>Aishwarya</a:t>
            </a:r>
            <a:r>
              <a:rPr lang="en-US" dirty="0"/>
              <a:t>, S. (2024). </a:t>
            </a:r>
            <a:r>
              <a:rPr lang="en-US" i="1" dirty="0"/>
              <a:t>Smart vehicle monitoring and accident detection system using </a:t>
            </a:r>
            <a:r>
              <a:rPr lang="en-US" i="1" dirty="0" err="1"/>
              <a:t>IoT</a:t>
            </a:r>
            <a:r>
              <a:rPr lang="en-US" dirty="0" smtClean="0"/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[</a:t>
            </a:r>
            <a:r>
              <a:rPr lang="en-US" dirty="0" smtClean="0"/>
              <a:t>2] Rajput</a:t>
            </a:r>
            <a:r>
              <a:rPr lang="en-US" dirty="0"/>
              <a:t>, S., &amp; Sharma, V. (2022). </a:t>
            </a:r>
            <a:r>
              <a:rPr lang="en-US" i="1" dirty="0" err="1"/>
              <a:t>IoT</a:t>
            </a:r>
            <a:r>
              <a:rPr lang="en-US" i="1" dirty="0"/>
              <a:t>-based vehicle tracking and safety system using GSM and GPS </a:t>
            </a:r>
            <a:r>
              <a:rPr lang="en-US" i="1" dirty="0" smtClean="0"/>
              <a:t>technologies</a:t>
            </a:r>
          </a:p>
          <a:p>
            <a:r>
              <a:rPr lang="en-US" dirty="0" smtClean="0"/>
              <a:t>[3]</a:t>
            </a:r>
            <a:r>
              <a:rPr lang="en-US" dirty="0" err="1" smtClean="0"/>
              <a:t>Hanwei</a:t>
            </a:r>
            <a:r>
              <a:rPr lang="en-US" dirty="0" smtClean="0"/>
              <a:t> </a:t>
            </a:r>
            <a:r>
              <a:rPr lang="en-US" dirty="0"/>
              <a:t>Electronics. (2018). </a:t>
            </a:r>
            <a:r>
              <a:rPr lang="en-US" i="1" dirty="0"/>
              <a:t>MQ-3 Alcohol Sensor Datasheet</a:t>
            </a:r>
            <a:r>
              <a:rPr lang="en-US" dirty="0"/>
              <a:t>. Retrieved from http://www.hwsensor.com</a:t>
            </a:r>
          </a:p>
          <a:p>
            <a:r>
              <a:rPr lang="en-US" dirty="0" smtClean="0"/>
              <a:t>[4] </a:t>
            </a:r>
            <a:r>
              <a:rPr lang="en-US" dirty="0" err="1" smtClean="0"/>
              <a:t>SIMCom</a:t>
            </a:r>
            <a:r>
              <a:rPr lang="en-US" dirty="0" smtClean="0"/>
              <a:t> </a:t>
            </a:r>
            <a:r>
              <a:rPr lang="en-US" dirty="0"/>
              <a:t>Wireless Solutions. (2016). </a:t>
            </a:r>
            <a:r>
              <a:rPr lang="en-US" i="1" dirty="0"/>
              <a:t>SIM808 Hardware Design Document</a:t>
            </a:r>
            <a:r>
              <a:rPr lang="en-US" dirty="0"/>
              <a:t>. Retrieved from </a:t>
            </a:r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simcom.ee</a:t>
            </a:r>
            <a:endParaRPr lang="ar-SY" dirty="0" smtClean="0"/>
          </a:p>
          <a:p>
            <a:r>
              <a:rPr lang="en-US" dirty="0" smtClean="0"/>
              <a:t>[5] </a:t>
            </a:r>
            <a:r>
              <a:rPr lang="en-US" dirty="0"/>
              <a:t>[3] </a:t>
            </a:r>
            <a:r>
              <a:rPr lang="sv-SE" dirty="0"/>
              <a:t>Kumar, A., &amp; Singh, P. (2021</a:t>
            </a:r>
            <a:r>
              <a:rPr lang="sv-SE" dirty="0" smtClean="0"/>
              <a:t>).</a:t>
            </a:r>
            <a:r>
              <a:rPr lang="en-US" dirty="0"/>
              <a:t> ESP32 microcontroller is used to collect sensor data and transmit it via Wi-Fi </a:t>
            </a:r>
            <a:endParaRPr lang="ar-SY" dirty="0" smtClean="0"/>
          </a:p>
          <a:p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896C7E-A916-41EB-B46D-FD73DBAC0E0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266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5538</TotalTime>
  <Words>1393</Words>
  <Application>Microsoft Office PowerPoint</Application>
  <PresentationFormat>Widescreen</PresentationFormat>
  <Paragraphs>305</Paragraphs>
  <Slides>29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1" baseType="lpstr">
      <vt:lpstr>Almarai</vt:lpstr>
      <vt:lpstr>Arial</vt:lpstr>
      <vt:lpstr>Arial Unicode MS</vt:lpstr>
      <vt:lpstr>Calibri</vt:lpstr>
      <vt:lpstr>Calibri Light</vt:lpstr>
      <vt:lpstr>Century Gothic</vt:lpstr>
      <vt:lpstr>Simplified Arabic</vt:lpstr>
      <vt:lpstr>Tahoma</vt:lpstr>
      <vt:lpstr>Times New Roman</vt:lpstr>
      <vt:lpstr>Tw Cen MT</vt:lpstr>
      <vt:lpstr>Wingdings</vt:lpstr>
      <vt:lpstr>Office Theme</vt:lpstr>
      <vt:lpstr> Design of Wireless Black Box for Cars </vt:lpstr>
      <vt:lpstr>Outline </vt:lpstr>
      <vt:lpstr> Project Objective </vt:lpstr>
      <vt:lpstr>Problem Statement &amp; project Importance  </vt:lpstr>
      <vt:lpstr>Methodology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Theoretical Fundamentals</vt:lpstr>
      <vt:lpstr>PowerPoint Presentation</vt:lpstr>
      <vt:lpstr>PowerPoint Presentation</vt:lpstr>
      <vt:lpstr>PowerPoint Presentation</vt:lpstr>
      <vt:lpstr>hardware implementation</vt:lpstr>
      <vt:lpstr>hardware implementation</vt:lpstr>
      <vt:lpstr>PowerPoint Presentation</vt:lpstr>
      <vt:lpstr>PowerPoint Presentation</vt:lpstr>
      <vt:lpstr>PowerPoint Presentation</vt:lpstr>
      <vt:lpstr>PowerPoint Presentation</vt:lpstr>
      <vt:lpstr>ESP32 CAM</vt:lpstr>
      <vt:lpstr>PowerPoint Presentation</vt:lpstr>
      <vt:lpstr>PowerPoint Presentation</vt:lpstr>
      <vt:lpstr>Experimental Results</vt:lpstr>
      <vt:lpstr>PowerPoint Presentation</vt:lpstr>
      <vt:lpstr>Demo video  </vt:lpstr>
      <vt:lpstr>Telemetry massage :</vt:lpstr>
      <vt:lpstr>PowerPoint Presentation</vt:lpstr>
      <vt:lpstr>Reference LIST</vt:lpstr>
    </vt:vector>
  </TitlesOfParts>
  <Company>SACC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Wireless Black Box for Cars w</dc:title>
  <dc:creator>Maher Fattouh</dc:creator>
  <cp:lastModifiedBy>Maher Fattouh</cp:lastModifiedBy>
  <cp:revision>126</cp:revision>
  <dcterms:created xsi:type="dcterms:W3CDTF">2025-12-17T11:05:55Z</dcterms:created>
  <dcterms:modified xsi:type="dcterms:W3CDTF">2026-05-30T19:12:06Z</dcterms:modified>
</cp:coreProperties>
</file>